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80" r:id="rId10"/>
    <p:sldId id="281" r:id="rId11"/>
    <p:sldId id="282" r:id="rId12"/>
    <p:sldId id="283" r:id="rId13"/>
    <p:sldId id="284" r:id="rId14"/>
    <p:sldId id="273" r:id="rId15"/>
    <p:sldId id="263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627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イメージできるものは手に入る</a:t>
            </a:r>
          </a:p>
        </p:txBody>
      </p:sp>
    </p:spTree>
    <p:extLst>
      <p:ext uri="{BB962C8B-B14F-4D97-AF65-F5344CB8AC3E}">
        <p14:creationId xmlns:p14="http://schemas.microsoft.com/office/powerpoint/2010/main" val="3303799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©︎2025 Noriko kishida"/>
          <p:cNvSpPr txBox="1"/>
          <p:nvPr/>
        </p:nvSpPr>
        <p:spPr>
          <a:xfrm>
            <a:off x="0" y="4715199"/>
            <a:ext cx="9023128" cy="208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4" tIns="9144" rIns="9144" bIns="9144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53585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1176" dirty="0"/>
              <a:t>©︎2025 </a:t>
            </a:r>
            <a:r>
              <a:rPr lang="en-US" altLang="ja-JP" sz="1176" dirty="0"/>
              <a:t>Meiko</a:t>
            </a:r>
            <a:r>
              <a:rPr lang="ja-JP" altLang="en-US" sz="1176" dirty="0"/>
              <a:t> </a:t>
            </a:r>
            <a:r>
              <a:rPr lang="en-US" altLang="ja-JP" sz="1176" dirty="0"/>
              <a:t>Oozeki</a:t>
            </a:r>
            <a:endParaRPr sz="1176" dirty="0"/>
          </a:p>
        </p:txBody>
      </p:sp>
      <p:sp>
        <p:nvSpPr>
          <p:cNvPr id="19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460965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2.png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59" y="-4700"/>
            <a:ext cx="9158718" cy="5160156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©︎2025 Noriko kishida"/>
          <p:cNvSpPr txBox="1"/>
          <p:nvPr/>
        </p:nvSpPr>
        <p:spPr>
          <a:xfrm>
            <a:off x="60436" y="4692230"/>
            <a:ext cx="9023128" cy="208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4" tIns="9144" rIns="9144" bIns="9144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FFFFF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1176" dirty="0"/>
              <a:t>©︎2025 </a:t>
            </a:r>
            <a:r>
              <a:rPr lang="en-US" sz="1176" dirty="0"/>
              <a:t>Meiko Oozeki</a:t>
            </a:r>
            <a:endParaRPr sz="1176" dirty="0"/>
          </a:p>
        </p:txBody>
      </p:sp>
      <p:sp>
        <p:nvSpPr>
          <p:cNvPr id="15" name="四角形"/>
          <p:cNvSpPr/>
          <p:nvPr/>
        </p:nvSpPr>
        <p:spPr>
          <a:xfrm>
            <a:off x="711043" y="536337"/>
            <a:ext cx="7721915" cy="4070827"/>
          </a:xfrm>
          <a:prstGeom prst="rect">
            <a:avLst/>
          </a:prstGeom>
          <a:solidFill>
            <a:srgbClr val="EBEBEB">
              <a:alpha val="80471"/>
            </a:srgbClr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 defTabSz="423863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1200"/>
          </a:p>
        </p:txBody>
      </p:sp>
      <p:sp>
        <p:nvSpPr>
          <p:cNvPr id="1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0832606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2.png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59" y="-4700"/>
            <a:ext cx="9158718" cy="5160156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©︎2025 Noriko kishida"/>
          <p:cNvSpPr txBox="1"/>
          <p:nvPr/>
        </p:nvSpPr>
        <p:spPr>
          <a:xfrm>
            <a:off x="60436" y="4692230"/>
            <a:ext cx="9023128" cy="208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4" tIns="9144" rIns="9144" bIns="9144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FFFFF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1176" dirty="0"/>
              <a:t>©︎2025 </a:t>
            </a:r>
            <a:r>
              <a:rPr lang="en-US" sz="1176" dirty="0"/>
              <a:t>Meiko Oozeki</a:t>
            </a:r>
            <a:endParaRPr sz="1176" dirty="0"/>
          </a:p>
        </p:txBody>
      </p:sp>
      <p:sp>
        <p:nvSpPr>
          <p:cNvPr id="15" name="四角形"/>
          <p:cNvSpPr/>
          <p:nvPr/>
        </p:nvSpPr>
        <p:spPr>
          <a:xfrm>
            <a:off x="711043" y="536337"/>
            <a:ext cx="7721915" cy="4070827"/>
          </a:xfrm>
          <a:prstGeom prst="rect">
            <a:avLst/>
          </a:prstGeom>
          <a:solidFill>
            <a:srgbClr val="EBEBEB">
              <a:alpha val="80471"/>
            </a:srgbClr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 defTabSz="423863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1200"/>
          </a:p>
        </p:txBody>
      </p:sp>
      <p:sp>
        <p:nvSpPr>
          <p:cNvPr id="1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551334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のみ コピ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スライドのタイトル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スライドのタイトル</a:t>
            </a:r>
          </a:p>
        </p:txBody>
      </p:sp>
      <p:sp>
        <p:nvSpPr>
          <p:cNvPr id="24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7200" y="894243"/>
            <a:ext cx="8229601" cy="312230"/>
          </a:xfrm>
          <a:prstGeom prst="rect">
            <a:avLst/>
          </a:prstGeom>
        </p:spPr>
        <p:txBody>
          <a:bodyPr/>
          <a:lstStyle>
            <a:lvl1pPr marL="0" indent="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pc="-17">
                <a:solidFill>
                  <a:srgbClr val="FF2F92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25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069436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のみ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スライドのタイトル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スライドのタイトル</a:t>
            </a:r>
          </a:p>
        </p:txBody>
      </p:sp>
      <p:sp>
        <p:nvSpPr>
          <p:cNvPr id="44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7200" y="894243"/>
            <a:ext cx="8229601" cy="312230"/>
          </a:xfrm>
          <a:prstGeom prst="rect">
            <a:avLst/>
          </a:prstGeom>
        </p:spPr>
        <p:txBody>
          <a:bodyPr/>
          <a:lstStyle>
            <a:lvl1pPr marL="0" indent="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pc="-17">
                <a:solidFill>
                  <a:srgbClr val="5E5E5E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45" name="©︎2025 Noriko kishida"/>
          <p:cNvSpPr txBox="1"/>
          <p:nvPr/>
        </p:nvSpPr>
        <p:spPr>
          <a:xfrm>
            <a:off x="60436" y="4692230"/>
            <a:ext cx="9023128" cy="208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4" tIns="9144" rIns="9144" bIns="9144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53585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1176" dirty="0"/>
              <a:t>©︎2025 </a:t>
            </a:r>
            <a:r>
              <a:rPr lang="en-US" sz="1176" dirty="0"/>
              <a:t>Meiko Oozeki</a:t>
            </a:r>
            <a:endParaRPr sz="1176" dirty="0"/>
          </a:p>
        </p:txBody>
      </p:sp>
      <p:sp>
        <p:nvSpPr>
          <p:cNvPr id="4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710331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のみ コピー 2">
    <p:bg>
      <p:bgPr>
        <a:solidFill>
          <a:srgbClr val="0119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スライドのタイトル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スライドのタイトル</a:t>
            </a:r>
          </a:p>
        </p:txBody>
      </p:sp>
      <p:sp>
        <p:nvSpPr>
          <p:cNvPr id="54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7200" y="894243"/>
            <a:ext cx="8229601" cy="312230"/>
          </a:xfrm>
          <a:prstGeom prst="rect">
            <a:avLst/>
          </a:prstGeom>
        </p:spPr>
        <p:txBody>
          <a:bodyPr/>
          <a:lstStyle>
            <a:lvl1pPr marL="0" indent="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pc="-17">
                <a:solidFill>
                  <a:srgbClr val="5E5E5E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55" name="©︎2025 Noriko kishida"/>
          <p:cNvSpPr txBox="1"/>
          <p:nvPr/>
        </p:nvSpPr>
        <p:spPr>
          <a:xfrm>
            <a:off x="60436" y="4692230"/>
            <a:ext cx="9023128" cy="208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4" tIns="9144" rIns="9144" bIns="9144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FFFFF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1176" dirty="0"/>
              <a:t>©︎2025 </a:t>
            </a:r>
            <a:r>
              <a:rPr lang="en-US" sz="1176" dirty="0"/>
              <a:t>Meiko Oozeki</a:t>
            </a:r>
            <a:endParaRPr sz="1176" dirty="0"/>
          </a:p>
        </p:txBody>
      </p:sp>
      <p:sp>
        <p:nvSpPr>
          <p:cNvPr id="5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59262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&amp;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夕暮れのビーチと海"/>
          <p:cNvSpPr>
            <a:spLocks noGrp="1"/>
          </p:cNvSpPr>
          <p:nvPr>
            <p:ph type="pic" idx="21"/>
          </p:nvPr>
        </p:nvSpPr>
        <p:spPr>
          <a:xfrm>
            <a:off x="0" y="-476250"/>
            <a:ext cx="9144000" cy="609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4" name="プレゼンテーションのタイトル"/>
          <p:cNvSpPr txBox="1">
            <a:spLocks noGrp="1"/>
          </p:cNvSpPr>
          <p:nvPr>
            <p:ph type="title" hasCustomPrompt="1"/>
          </p:nvPr>
        </p:nvSpPr>
        <p:spPr>
          <a:xfrm>
            <a:off x="457200" y="1328738"/>
            <a:ext cx="8229600" cy="1600200"/>
          </a:xfrm>
          <a:prstGeom prst="rect">
            <a:avLst/>
          </a:prstGeom>
        </p:spPr>
        <p:txBody>
          <a:bodyPr anchor="b"/>
          <a:lstStyle>
            <a:lvl1pPr>
              <a:defRPr sz="4800" spc="-48">
                <a:solidFill>
                  <a:srgbClr val="FFFFFF"/>
                </a:solidFill>
              </a:defRPr>
            </a:lvl1pPr>
          </a:lstStyle>
          <a:p>
            <a:r>
              <a:t>プレゼンテーションのタイトル</a:t>
            </a:r>
          </a:p>
        </p:txBody>
      </p:sp>
      <p:sp>
        <p:nvSpPr>
          <p:cNvPr id="65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2838450"/>
            <a:ext cx="8229600" cy="844542"/>
          </a:xfrm>
          <a:prstGeom prst="rect">
            <a:avLst/>
          </a:prstGeom>
        </p:spPr>
        <p:txBody>
          <a:bodyPr/>
          <a:lstStyle>
            <a:lvl1pPr marL="0" indent="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z="2250" spc="-22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17145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z="2250" spc="-22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34290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z="2250" spc="-22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51435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z="2250" spc="-22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68580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z="2250" spc="-22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プレゼンテーションのサブタイトル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6" name="作者と日付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57200" y="4495800"/>
            <a:ext cx="8229601" cy="227172"/>
          </a:xfrm>
          <a:prstGeom prst="rect">
            <a:avLst/>
          </a:prstGeom>
        </p:spPr>
        <p:txBody>
          <a:bodyPr/>
          <a:lstStyle>
            <a:lvl1pPr marL="0" indent="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z="1125" spc="-11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作者と日付</a:t>
            </a:r>
          </a:p>
        </p:txBody>
      </p:sp>
      <p:sp>
        <p:nvSpPr>
          <p:cNvPr id="6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464599" y="4705465"/>
            <a:ext cx="214803" cy="218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596785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&amp;画像（代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455811" y="1719414"/>
            <a:ext cx="3659002" cy="952500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スライドのタイトル</a:t>
            </a:r>
          </a:p>
        </p:txBody>
      </p:sp>
      <p:sp>
        <p:nvSpPr>
          <p:cNvPr id="75" name="空を背景にした夕暮れの海"/>
          <p:cNvSpPr>
            <a:spLocks noGrp="1"/>
          </p:cNvSpPr>
          <p:nvPr>
            <p:ph type="pic" idx="21"/>
          </p:nvPr>
        </p:nvSpPr>
        <p:spPr>
          <a:xfrm>
            <a:off x="3481387" y="476250"/>
            <a:ext cx="6281738" cy="4191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6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2631281"/>
            <a:ext cx="3657600" cy="2031206"/>
          </a:xfrm>
          <a:prstGeom prst="rect">
            <a:avLst/>
          </a:prstGeom>
        </p:spPr>
        <p:txBody>
          <a:bodyPr/>
          <a:lstStyle>
            <a:lvl1pPr marL="0" indent="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pc="-17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17145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pc="-17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34290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pc="-17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51435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pc="-17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68580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pc="-17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スライドのサブタイトル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464599" y="4705465"/>
            <a:ext cx="214803" cy="21800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307136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スライドのタイトル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スライドのタイトル</a:t>
            </a:r>
          </a:p>
        </p:txBody>
      </p:sp>
      <p:sp>
        <p:nvSpPr>
          <p:cNvPr id="85" name="本文レベル1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1504950"/>
            <a:ext cx="8230716" cy="3181350"/>
          </a:xfrm>
          <a:prstGeom prst="rect">
            <a:avLst/>
          </a:prstGeom>
        </p:spPr>
        <p:txBody>
          <a:bodyPr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6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7200" y="894243"/>
            <a:ext cx="8229601" cy="312230"/>
          </a:xfrm>
          <a:prstGeom prst="rect">
            <a:avLst/>
          </a:prstGeom>
        </p:spPr>
        <p:txBody>
          <a:bodyPr/>
          <a:lstStyle>
            <a:lvl1pPr marL="0" indent="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pc="-17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8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464599" y="4705465"/>
            <a:ext cx="214803" cy="21800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848505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本文レベル1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1504950"/>
            <a:ext cx="8229600" cy="3182681"/>
          </a:xfrm>
          <a:prstGeom prst="rect">
            <a:avLst/>
          </a:prstGeom>
        </p:spPr>
        <p:txBody>
          <a:bodyPr numCol="2" spcCol="2558384"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5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10913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457200" y="290513"/>
            <a:ext cx="3657600" cy="6000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スライドのタイトル</a:t>
            </a:r>
          </a:p>
        </p:txBody>
      </p:sp>
      <p:sp>
        <p:nvSpPr>
          <p:cNvPr id="103" name="空を背景にした夕暮れの海"/>
          <p:cNvSpPr>
            <a:spLocks noGrp="1"/>
          </p:cNvSpPr>
          <p:nvPr>
            <p:ph type="pic" idx="21"/>
          </p:nvPr>
        </p:nvSpPr>
        <p:spPr>
          <a:xfrm>
            <a:off x="4572242" y="269471"/>
            <a:ext cx="4114800" cy="462360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4" name="スライドのサブタイトル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57200" y="895350"/>
            <a:ext cx="3659088" cy="312230"/>
          </a:xfrm>
          <a:prstGeom prst="rect">
            <a:avLst/>
          </a:prstGeom>
        </p:spPr>
        <p:txBody>
          <a:bodyPr/>
          <a:lstStyle>
            <a:lvl1pPr marL="0" indent="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pc="-17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105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0" y="1508708"/>
            <a:ext cx="3659088" cy="3144255"/>
          </a:xfrm>
          <a:prstGeom prst="rect">
            <a:avLst/>
          </a:prstGeom>
        </p:spPr>
        <p:txBody>
          <a:bodyPr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466980" y="4705465"/>
            <a:ext cx="214803" cy="21800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528867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、箇条書き、ライブビデオ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457200" y="290513"/>
            <a:ext cx="3657600" cy="6000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スライドのタイトル</a:t>
            </a:r>
          </a:p>
        </p:txBody>
      </p:sp>
      <p:sp>
        <p:nvSpPr>
          <p:cNvPr id="114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7200" y="895350"/>
            <a:ext cx="3659088" cy="312230"/>
          </a:xfrm>
          <a:prstGeom prst="rect">
            <a:avLst/>
          </a:prstGeom>
        </p:spPr>
        <p:txBody>
          <a:bodyPr/>
          <a:lstStyle>
            <a:lvl1pPr marL="0" indent="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pc="-17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115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0" y="1508708"/>
            <a:ext cx="3659088" cy="3144255"/>
          </a:xfrm>
          <a:prstGeom prst="rect">
            <a:avLst/>
          </a:prstGeom>
        </p:spPr>
        <p:txBody>
          <a:bodyPr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466980" y="4705465"/>
            <a:ext cx="214803" cy="21800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936469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、箇条書き、ライブビデオ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457200" y="290513"/>
            <a:ext cx="3657600" cy="6000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スライドのタイトル</a:t>
            </a:r>
          </a:p>
        </p:txBody>
      </p:sp>
      <p:sp>
        <p:nvSpPr>
          <p:cNvPr id="124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7200" y="895350"/>
            <a:ext cx="3659088" cy="312230"/>
          </a:xfrm>
          <a:prstGeom prst="rect">
            <a:avLst/>
          </a:prstGeom>
        </p:spPr>
        <p:txBody>
          <a:bodyPr/>
          <a:lstStyle>
            <a:lvl1pPr marL="0" indent="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pc="-17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125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0" y="1508708"/>
            <a:ext cx="3659088" cy="3144255"/>
          </a:xfrm>
          <a:prstGeom prst="rect">
            <a:avLst/>
          </a:prstGeom>
        </p:spPr>
        <p:txBody>
          <a:bodyPr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466980" y="4705465"/>
            <a:ext cx="214803" cy="21800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0815127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セクションタイトル"/>
          <p:cNvSpPr txBox="1">
            <a:spLocks noGrp="1"/>
          </p:cNvSpPr>
          <p:nvPr>
            <p:ph type="title" hasCustomPrompt="1"/>
          </p:nvPr>
        </p:nvSpPr>
        <p:spPr>
          <a:xfrm>
            <a:off x="457200" y="1215852"/>
            <a:ext cx="8229600" cy="2476500"/>
          </a:xfrm>
          <a:prstGeom prst="rect">
            <a:avLst/>
          </a:prstGeom>
        </p:spPr>
        <p:txBody>
          <a:bodyPr anchor="ctr"/>
          <a:lstStyle>
            <a:lvl1pPr>
              <a:defRPr sz="4800" spc="0">
                <a:solidFill>
                  <a:srgbClr val="000000"/>
                </a:solidFill>
              </a:defRPr>
            </a:lvl1pPr>
          </a:lstStyle>
          <a:p>
            <a:r>
              <a:t>セクションタイトル</a:t>
            </a:r>
          </a:p>
        </p:txBody>
      </p:sp>
      <p:sp>
        <p:nvSpPr>
          <p:cNvPr id="134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1184201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議題のタイトル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議題のタイトル</a:t>
            </a:r>
          </a:p>
        </p:txBody>
      </p:sp>
      <p:sp>
        <p:nvSpPr>
          <p:cNvPr id="142" name="本文レベル1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1504950"/>
            <a:ext cx="8229600" cy="3144581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buSzTx/>
              <a:buNone/>
              <a:defRPr sz="2550" spc="-51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171450" defTabSz="309563">
              <a:lnSpc>
                <a:spcPct val="100000"/>
              </a:lnSpc>
              <a:buSzTx/>
              <a:buNone/>
              <a:defRPr sz="2550" spc="-51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342900" defTabSz="309563">
              <a:lnSpc>
                <a:spcPct val="100000"/>
              </a:lnSpc>
              <a:buSzTx/>
              <a:buNone/>
              <a:defRPr sz="2550" spc="-51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514350" defTabSz="309563">
              <a:lnSpc>
                <a:spcPct val="100000"/>
              </a:lnSpc>
              <a:buSzTx/>
              <a:buNone/>
              <a:defRPr sz="2550" spc="-51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685800" defTabSz="309563">
              <a:lnSpc>
                <a:spcPct val="100000"/>
              </a:lnSpc>
              <a:buSzTx/>
              <a:buNone/>
              <a:defRPr sz="2550" spc="-51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r>
              <a:t>議題のトピック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3" name="議題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7200" y="895168"/>
            <a:ext cx="8229601" cy="312230"/>
          </a:xfrm>
          <a:prstGeom prst="rect">
            <a:avLst/>
          </a:prstGeom>
        </p:spPr>
        <p:txBody>
          <a:bodyPr/>
          <a:lstStyle>
            <a:lvl1pPr marL="0" indent="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pc="-17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議題のサブタイトル</a:t>
            </a:r>
          </a:p>
        </p:txBody>
      </p:sp>
      <p:sp>
        <p:nvSpPr>
          <p:cNvPr id="144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882853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ステートメン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本文レベル1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1219200"/>
            <a:ext cx="8229600" cy="2476500"/>
          </a:xfrm>
          <a:prstGeom prst="rect">
            <a:avLst/>
          </a:prstGeom>
        </p:spPr>
        <p:txBody>
          <a:bodyPr anchor="ctr"/>
          <a:lstStyle>
            <a:lvl1pPr marL="0" indent="0" algn="ctr" defTabSz="914400">
              <a:lnSpc>
                <a:spcPct val="80000"/>
              </a:lnSpc>
              <a:spcBef>
                <a:spcPts val="0"/>
              </a:spcBef>
              <a:buSzTx/>
              <a:buNone/>
              <a:defRPr sz="4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171450" algn="ctr" defTabSz="914400">
              <a:lnSpc>
                <a:spcPct val="80000"/>
              </a:lnSpc>
              <a:spcBef>
                <a:spcPts val="0"/>
              </a:spcBef>
              <a:buSzTx/>
              <a:buNone/>
              <a:defRPr sz="4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342900" algn="ctr" defTabSz="914400">
              <a:lnSpc>
                <a:spcPct val="80000"/>
              </a:lnSpc>
              <a:spcBef>
                <a:spcPts val="0"/>
              </a:spcBef>
              <a:buSzTx/>
              <a:buNone/>
              <a:defRPr sz="4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514350" algn="ctr" defTabSz="914400">
              <a:lnSpc>
                <a:spcPct val="80000"/>
              </a:lnSpc>
              <a:spcBef>
                <a:spcPts val="0"/>
              </a:spcBef>
              <a:buSzTx/>
              <a:buNone/>
              <a:defRPr sz="4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685800" algn="ctr" defTabSz="914400">
              <a:lnSpc>
                <a:spcPct val="80000"/>
              </a:lnSpc>
              <a:spcBef>
                <a:spcPts val="0"/>
              </a:spcBef>
              <a:buSzTx/>
              <a:buNone/>
              <a:defRPr sz="4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r>
              <a:t>ステートメント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2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464599" y="4705465"/>
            <a:ext cx="214803" cy="21800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98350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ビッグファク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ファクト情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7200" y="3173340"/>
            <a:ext cx="8229601" cy="312230"/>
          </a:xfrm>
          <a:prstGeom prst="rect">
            <a:avLst/>
          </a:prstGeom>
        </p:spPr>
        <p:txBody>
          <a:bodyPr/>
          <a:lstStyle>
            <a:lvl1pPr marL="0" indent="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pc="-17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ファクト情報</a:t>
            </a:r>
          </a:p>
        </p:txBody>
      </p:sp>
      <p:sp>
        <p:nvSpPr>
          <p:cNvPr id="160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0" y="1580431"/>
            <a:ext cx="8229600" cy="1601141"/>
          </a:xfrm>
          <a:prstGeom prst="rect">
            <a:avLst/>
          </a:prstGeom>
        </p:spPr>
        <p:txBody>
          <a:bodyPr anchor="b"/>
          <a:lstStyle>
            <a:lvl1pPr marL="0" indent="0" algn="ctr" defTabSz="914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171450" algn="ctr" defTabSz="914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342900" algn="ctr" defTabSz="914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514350" algn="ctr" defTabSz="914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685800" algn="ctr" defTabSz="914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1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464599" y="4705465"/>
            <a:ext cx="214803" cy="21800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50747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属性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7200" y="4162520"/>
            <a:ext cx="8229601" cy="312230"/>
          </a:xfrm>
          <a:prstGeom prst="rect">
            <a:avLst/>
          </a:prstGeom>
        </p:spPr>
        <p:txBody>
          <a:bodyPr anchor="ctr"/>
          <a:lstStyle>
            <a:lvl1pPr marL="0" indent="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pc="-17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属性</a:t>
            </a:r>
          </a:p>
        </p:txBody>
      </p:sp>
      <p:sp>
        <p:nvSpPr>
          <p:cNvPr id="169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0" y="1566863"/>
            <a:ext cx="8229600" cy="1656159"/>
          </a:xfrm>
          <a:prstGeom prst="rect">
            <a:avLst/>
          </a:prstGeom>
        </p:spPr>
        <p:txBody>
          <a:bodyPr anchor="ctr"/>
          <a:lstStyle>
            <a:lvl1pPr marL="0" indent="0" algn="ctr" defTabSz="914400">
              <a:lnSpc>
                <a:spcPct val="80000"/>
              </a:lnSpc>
              <a:spcBef>
                <a:spcPts val="0"/>
              </a:spcBef>
              <a:buSzTx/>
              <a:buNone/>
              <a:defRPr sz="3150">
                <a:latin typeface="+mn-lt"/>
                <a:ea typeface="+mn-ea"/>
                <a:cs typeface="+mn-cs"/>
                <a:sym typeface="Canela Bold"/>
              </a:defRPr>
            </a:lvl1pPr>
            <a:lvl2pPr marL="0" indent="171450" algn="ctr" defTabSz="914400">
              <a:lnSpc>
                <a:spcPct val="80000"/>
              </a:lnSpc>
              <a:spcBef>
                <a:spcPts val="0"/>
              </a:spcBef>
              <a:buSzTx/>
              <a:buNone/>
              <a:defRPr sz="3150">
                <a:latin typeface="+mn-lt"/>
                <a:ea typeface="+mn-ea"/>
                <a:cs typeface="+mn-cs"/>
                <a:sym typeface="Canela Bold"/>
              </a:defRPr>
            </a:lvl2pPr>
            <a:lvl3pPr marL="0" indent="342900" algn="ctr" defTabSz="914400">
              <a:lnSpc>
                <a:spcPct val="80000"/>
              </a:lnSpc>
              <a:spcBef>
                <a:spcPts val="0"/>
              </a:spcBef>
              <a:buSzTx/>
              <a:buNone/>
              <a:defRPr sz="3150">
                <a:latin typeface="+mn-lt"/>
                <a:ea typeface="+mn-ea"/>
                <a:cs typeface="+mn-cs"/>
                <a:sym typeface="Canela Bold"/>
              </a:defRPr>
            </a:lvl3pPr>
            <a:lvl4pPr marL="0" indent="514350" algn="ctr" defTabSz="914400">
              <a:lnSpc>
                <a:spcPct val="80000"/>
              </a:lnSpc>
              <a:spcBef>
                <a:spcPts val="0"/>
              </a:spcBef>
              <a:buSzTx/>
              <a:buNone/>
              <a:defRPr sz="3150">
                <a:latin typeface="+mn-lt"/>
                <a:ea typeface="+mn-ea"/>
                <a:cs typeface="+mn-cs"/>
                <a:sym typeface="Canela Bold"/>
              </a:defRPr>
            </a:lvl4pPr>
            <a:lvl5pPr marL="0" indent="685800" algn="ctr" defTabSz="914400">
              <a:lnSpc>
                <a:spcPct val="80000"/>
              </a:lnSpc>
              <a:spcBef>
                <a:spcPts val="0"/>
              </a:spcBef>
              <a:buSzTx/>
              <a:buNone/>
              <a:defRPr sz="315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“重要な引用”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7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155856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空を背景にした夕暮れの海2"/>
          <p:cNvSpPr>
            <a:spLocks noGrp="1"/>
          </p:cNvSpPr>
          <p:nvPr>
            <p:ph type="pic" sz="quarter" idx="21"/>
          </p:nvPr>
        </p:nvSpPr>
        <p:spPr>
          <a:xfrm>
            <a:off x="5904309" y="2093157"/>
            <a:ext cx="2762028" cy="31051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8" name="空を背景にした夕暮れの海1"/>
          <p:cNvSpPr>
            <a:spLocks noGrp="1"/>
          </p:cNvSpPr>
          <p:nvPr>
            <p:ph type="pic" sz="quarter" idx="22"/>
          </p:nvPr>
        </p:nvSpPr>
        <p:spPr>
          <a:xfrm>
            <a:off x="5761434" y="476250"/>
            <a:ext cx="3043238" cy="20283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9" name="夕暮れのビーチと海"/>
          <p:cNvSpPr>
            <a:spLocks noGrp="1"/>
          </p:cNvSpPr>
          <p:nvPr>
            <p:ph type="pic" idx="23"/>
          </p:nvPr>
        </p:nvSpPr>
        <p:spPr>
          <a:xfrm>
            <a:off x="-23813" y="476250"/>
            <a:ext cx="6286500" cy="4191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8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848686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夕暮れのビーチと海"/>
          <p:cNvSpPr>
            <a:spLocks noGrp="1"/>
          </p:cNvSpPr>
          <p:nvPr>
            <p:ph type="pic" idx="21"/>
          </p:nvPr>
        </p:nvSpPr>
        <p:spPr>
          <a:xfrm>
            <a:off x="476250" y="-158751"/>
            <a:ext cx="8191500" cy="5461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88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460475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©︎2025 Noriko kishida"/>
          <p:cNvSpPr txBox="1"/>
          <p:nvPr/>
        </p:nvSpPr>
        <p:spPr>
          <a:xfrm>
            <a:off x="0" y="4715199"/>
            <a:ext cx="9023128" cy="208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4" tIns="9144" rIns="9144" bIns="9144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53585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1176" dirty="0"/>
              <a:t>©︎2025 </a:t>
            </a:r>
            <a:r>
              <a:rPr lang="en-US" altLang="ja-JP" sz="1176" dirty="0"/>
              <a:t>Meiko</a:t>
            </a:r>
            <a:r>
              <a:rPr lang="ja-JP" altLang="en-US" sz="1176" dirty="0"/>
              <a:t> </a:t>
            </a:r>
            <a:r>
              <a:rPr lang="en-US" altLang="ja-JP" sz="1176" dirty="0"/>
              <a:t>Oozeki</a:t>
            </a:r>
            <a:endParaRPr sz="1176" dirty="0"/>
          </a:p>
        </p:txBody>
      </p:sp>
      <p:sp>
        <p:nvSpPr>
          <p:cNvPr id="19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0092130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711838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.png" descr="2.png"/>
          <p:cNvPicPr>
            <a:picLocks noChangeAspect="1"/>
          </p:cNvPicPr>
          <p:nvPr/>
        </p:nvPicPr>
        <p:blipFill>
          <a:blip r:embed="rId22">
            <a:alphaModFix amt="93725"/>
          </a:blip>
          <a:stretch>
            <a:fillRect/>
          </a:stretch>
        </p:blipFill>
        <p:spPr>
          <a:xfrm>
            <a:off x="-22042" y="-16601"/>
            <a:ext cx="9188084" cy="51767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457200" y="290513"/>
            <a:ext cx="82296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スライドのタイトル</a:t>
            </a:r>
          </a:p>
        </p:txBody>
      </p:sp>
      <p:sp>
        <p:nvSpPr>
          <p:cNvPr id="4" name="©︎2025  Noriko kishida"/>
          <p:cNvSpPr txBox="1"/>
          <p:nvPr/>
        </p:nvSpPr>
        <p:spPr>
          <a:xfrm>
            <a:off x="-1767" y="4692230"/>
            <a:ext cx="9023127" cy="208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4" tIns="9144" rIns="9144" bIns="9144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FFFFF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1176" dirty="0"/>
              <a:t>©︎2025  </a:t>
            </a:r>
            <a:r>
              <a:rPr lang="en-US" sz="1176" dirty="0"/>
              <a:t>Meiko Oozeki</a:t>
            </a:r>
            <a:endParaRPr sz="1176" dirty="0"/>
          </a:p>
        </p:txBody>
      </p:sp>
      <p:sp>
        <p:nvSpPr>
          <p:cNvPr id="5" name="本文レベル1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1504950"/>
            <a:ext cx="8229600" cy="318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466027" y="4705465"/>
            <a:ext cx="214803" cy="21800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219075">
              <a:lnSpc>
                <a:spcPct val="100000"/>
              </a:lnSpc>
              <a:spcBef>
                <a:spcPts val="0"/>
              </a:spcBef>
              <a:defRPr sz="75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8451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</p:sldLayoutIdLst>
  <p:transition spd="med"/>
  <p:txStyles>
    <p:titleStyle>
      <a:lvl1pPr marL="0" marR="0" indent="0" algn="ctr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-32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171450" algn="ctr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-32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342900" algn="ctr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-32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514350" algn="ctr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-32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685800" algn="ctr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-32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857250" algn="ctr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-32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1028700" algn="ctr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-32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1200150" algn="ctr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-32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1371600" algn="ctr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-32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204788" marR="0" indent="-204788" algn="l" defTabSz="914377" rtl="0" latinLnBrk="0">
        <a:lnSpc>
          <a:spcPct val="90000"/>
        </a:lnSpc>
        <a:spcBef>
          <a:spcPts val="900"/>
        </a:spcBef>
        <a:spcAft>
          <a:spcPts val="0"/>
        </a:spcAft>
        <a:buClrTx/>
        <a:buSzPct val="150000"/>
        <a:buFontTx/>
        <a:buChar char="•"/>
        <a:tabLst/>
        <a:defRPr sz="165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409575" marR="0" indent="-204788" algn="l" defTabSz="914377" rtl="0" latinLnBrk="0">
        <a:lnSpc>
          <a:spcPct val="90000"/>
        </a:lnSpc>
        <a:spcBef>
          <a:spcPts val="900"/>
        </a:spcBef>
        <a:spcAft>
          <a:spcPts val="0"/>
        </a:spcAft>
        <a:buClrTx/>
        <a:buSzPct val="150000"/>
        <a:buFontTx/>
        <a:buChar char="•"/>
        <a:tabLst/>
        <a:defRPr sz="165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614363" marR="0" indent="-204788" algn="l" defTabSz="914377" rtl="0" latinLnBrk="0">
        <a:lnSpc>
          <a:spcPct val="90000"/>
        </a:lnSpc>
        <a:spcBef>
          <a:spcPts val="900"/>
        </a:spcBef>
        <a:spcAft>
          <a:spcPts val="0"/>
        </a:spcAft>
        <a:buClrTx/>
        <a:buSzPct val="150000"/>
        <a:buFontTx/>
        <a:buChar char="•"/>
        <a:tabLst/>
        <a:defRPr sz="165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819150" marR="0" indent="-204788" algn="l" defTabSz="914377" rtl="0" latinLnBrk="0">
        <a:lnSpc>
          <a:spcPct val="90000"/>
        </a:lnSpc>
        <a:spcBef>
          <a:spcPts val="900"/>
        </a:spcBef>
        <a:spcAft>
          <a:spcPts val="0"/>
        </a:spcAft>
        <a:buClrTx/>
        <a:buSzPct val="150000"/>
        <a:buFontTx/>
        <a:buChar char="•"/>
        <a:tabLst/>
        <a:defRPr sz="165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1023938" marR="0" indent="-204788" algn="l" defTabSz="914377" rtl="0" latinLnBrk="0">
        <a:lnSpc>
          <a:spcPct val="90000"/>
        </a:lnSpc>
        <a:spcBef>
          <a:spcPts val="900"/>
        </a:spcBef>
        <a:spcAft>
          <a:spcPts val="0"/>
        </a:spcAft>
        <a:buClrTx/>
        <a:buSzPct val="150000"/>
        <a:buFontTx/>
        <a:buChar char="•"/>
        <a:tabLst/>
        <a:defRPr sz="165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1228725" marR="0" indent="-204788" algn="l" defTabSz="914377" rtl="0" latinLnBrk="0">
        <a:lnSpc>
          <a:spcPct val="90000"/>
        </a:lnSpc>
        <a:spcBef>
          <a:spcPts val="900"/>
        </a:spcBef>
        <a:spcAft>
          <a:spcPts val="0"/>
        </a:spcAft>
        <a:buClrTx/>
        <a:buSzPct val="150000"/>
        <a:buFontTx/>
        <a:buChar char="•"/>
        <a:tabLst/>
        <a:defRPr sz="165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1433513" marR="0" indent="-204788" algn="l" defTabSz="914377" rtl="0" latinLnBrk="0">
        <a:lnSpc>
          <a:spcPct val="90000"/>
        </a:lnSpc>
        <a:spcBef>
          <a:spcPts val="900"/>
        </a:spcBef>
        <a:spcAft>
          <a:spcPts val="0"/>
        </a:spcAft>
        <a:buClrTx/>
        <a:buSzPct val="150000"/>
        <a:buFontTx/>
        <a:buChar char="•"/>
        <a:tabLst/>
        <a:defRPr sz="165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1638300" marR="0" indent="-204788" algn="l" defTabSz="914377" rtl="0" latinLnBrk="0">
        <a:lnSpc>
          <a:spcPct val="90000"/>
        </a:lnSpc>
        <a:spcBef>
          <a:spcPts val="900"/>
        </a:spcBef>
        <a:spcAft>
          <a:spcPts val="0"/>
        </a:spcAft>
        <a:buClrTx/>
        <a:buSzPct val="150000"/>
        <a:buFontTx/>
        <a:buChar char="•"/>
        <a:tabLst/>
        <a:defRPr sz="165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1843088" marR="0" indent="-204788" algn="l" defTabSz="914377" rtl="0" latinLnBrk="0">
        <a:lnSpc>
          <a:spcPct val="90000"/>
        </a:lnSpc>
        <a:spcBef>
          <a:spcPts val="900"/>
        </a:spcBef>
        <a:spcAft>
          <a:spcPts val="0"/>
        </a:spcAft>
        <a:buClrTx/>
        <a:buSzPct val="150000"/>
        <a:buFontTx/>
        <a:buChar char="•"/>
        <a:tabLst/>
        <a:defRPr sz="165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1714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3429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5143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6858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8572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10287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12001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13716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457200"/>
            <a:ext cx="5120640" cy="4114800"/>
          </a:xfrm>
          <a:prstGeom prst="ellipse">
            <a:avLst/>
          </a:prstGeom>
          <a:solidFill>
            <a:srgbClr val="FFDDF0">
              <a:alpha val="40000"/>
            </a:srgbClr>
          </a:solidFill>
          <a:ln w="12700">
            <a:solidFill>
              <a:srgbClr val="FFDDF0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A6A7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あなたもハマってない？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1444752"/>
            <a:ext cx="4572000" cy="22860"/>
          </a:xfrm>
          <a:prstGeom prst="rect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62272" y="1376172"/>
            <a:ext cx="109728" cy="109728"/>
          </a:xfrm>
          <a:prstGeom prst="ellipse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CC0066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A1A2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6次元化した後の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18872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CC0066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5200" b="1">
                <a:solidFill>
                  <a:srgbClr val="E2229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３つの</a:t>
            </a:r>
            <a:r>
              <a:rPr lang="en-US" sz="5200" b="1">
                <a:solidFill>
                  <a:srgbClr val="E2229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落とし穴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2286000" y="3493008"/>
            <a:ext cx="4572000" cy="22860"/>
          </a:xfrm>
          <a:prstGeom prst="rect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62272" y="3424428"/>
            <a:ext cx="109728" cy="109728"/>
          </a:xfrm>
          <a:prstGeom prst="ellipse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864608"/>
            <a:ext cx="9098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©︎2025  Meiko Oozeki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CC0066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2229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 </a:t>
            </a:r>
            <a:r>
              <a:rPr lang="en-US" sz="2100" b="1">
                <a:solidFill>
                  <a:srgbClr val="E2229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6次元ワープした</a:t>
            </a:r>
            <a:r>
              <a:rPr lang="ja-JP" altLang="en-US" sz="2100" b="1">
                <a:solidFill>
                  <a:srgbClr val="E2229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はずなのに</a:t>
            </a:r>
            <a:r>
              <a:rPr lang="en-US" sz="2100" b="1">
                <a:solidFill>
                  <a:srgbClr val="E2229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… </a:t>
            </a:r>
            <a:r>
              <a:rPr lang="en-US" sz="2100" b="1" dirty="0">
                <a:solidFill>
                  <a:srgbClr val="E2229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」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2286000" y="1170432"/>
            <a:ext cx="4572000" cy="22860"/>
          </a:xfrm>
          <a:prstGeom prst="rect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3716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ja-JP" altLang="en-US" sz="180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売上が止まってる。</a:t>
            </a:r>
            <a:endParaRPr lang="en-US" altLang="ja-JP" sz="1800">
              <a:solidFill>
                <a:srgbClr val="2A1A2A"/>
              </a:solidFill>
              <a:latin typeface="BIZ UDP明朝 Medium" pitchFamily="34" charset="0"/>
              <a:ea typeface="BIZ UDP明朝 Medium" pitchFamily="34" charset="-122"/>
              <a:cs typeface="BIZ UDP明朝 Medium" pitchFamily="34" charset="-120"/>
            </a:endParaRPr>
          </a:p>
          <a:p>
            <a:pPr marL="0" indent="0" algn="ctr">
              <a:spcAft>
                <a:spcPts val="1000"/>
              </a:spcAft>
              <a:buNone/>
            </a:pPr>
            <a:r>
              <a:rPr lang="ja-JP" altLang="en-US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</a:rPr>
              <a:t>停滞感を感じてる。</a:t>
            </a:r>
            <a:endParaRPr lang="en-US" altLang="ja-JP">
              <a:solidFill>
                <a:srgbClr val="2A1A2A"/>
              </a:solidFill>
              <a:latin typeface="BIZ UDP明朝 Medium" pitchFamily="34" charset="0"/>
              <a:ea typeface="BIZ UDP明朝 Medium" pitchFamily="34" charset="-122"/>
            </a:endParaRPr>
          </a:p>
          <a:p>
            <a:pPr marL="0" indent="0" algn="ctr">
              <a:spcAft>
                <a:spcPts val="1000"/>
              </a:spcAft>
              <a:buNone/>
            </a:pPr>
            <a:r>
              <a:rPr lang="ja-JP" altLang="en-US" sz="180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</a:rPr>
              <a:t>あんなに至福だったのに・・・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017520"/>
            <a:ext cx="7315200" cy="822960"/>
          </a:xfrm>
          <a:prstGeom prst="rect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1540" y="3017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👉　落とし穴にハマっているから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106625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6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今日はその落とし穴を3つ、具体的に解説します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864608"/>
            <a:ext cx="9098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©︎2025  Meiko Oozeki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E2229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落とし穴 ①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749808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CC0066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1A2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6次元を「気持ちいい状態」だと思っている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1396746"/>
            <a:ext cx="4572000" cy="22860"/>
          </a:xfrm>
          <a:prstGeom prst="rect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700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ワクワク・喜び</a:t>
            </a:r>
            <a:r>
              <a:rPr lang="en-US" sz="170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・心地よさ</a:t>
            </a:r>
            <a:r>
              <a:rPr lang="ja-JP" altLang="en-US" sz="170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・エネルギーに満ちている状態</a:t>
            </a:r>
            <a:r>
              <a:rPr lang="en-US" sz="170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 </a:t>
            </a:r>
            <a:r>
              <a:rPr lang="en-US" sz="1700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＝ 6次元　という勘違い</a:t>
            </a:r>
            <a:endParaRPr lang="en-US" sz="17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70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感覚がないと</a:t>
            </a:r>
            <a:r>
              <a:rPr lang="en-US" sz="1700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「6次元じゃない</a:t>
            </a:r>
            <a:r>
              <a:rPr lang="en-US" sz="170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」とジャッジが始まる</a:t>
            </a:r>
          </a:p>
          <a:p>
            <a:pPr marL="0" indent="0" algn="l">
              <a:spcAft>
                <a:spcPts val="600"/>
              </a:spcAft>
              <a:buNone/>
            </a:pPr>
            <a:br>
              <a:rPr lang="en-US" sz="170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</a:br>
            <a:r>
              <a:rPr lang="en-US" sz="1700" b="1">
                <a:solidFill>
                  <a:srgbClr val="B5006E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→ </a:t>
            </a:r>
            <a:r>
              <a:rPr lang="ja-JP" altLang="en-US" sz="1700" b="1">
                <a:solidFill>
                  <a:srgbClr val="B5006E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ジャッジしてる時点で４次元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090672"/>
            <a:ext cx="8229600" cy="548640"/>
          </a:xfrm>
          <a:prstGeom prst="rect">
            <a:avLst/>
          </a:prstGeom>
          <a:solidFill>
            <a:srgbClr val="FFDDF0"/>
          </a:solidFill>
          <a:ln w="19050">
            <a:solidFill>
              <a:srgbClr val="E222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90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500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6次元とは「状態」ではなく　</a:t>
            </a:r>
            <a:r>
              <a:rPr lang="en-US" sz="2000" b="1" dirty="0">
                <a:solidFill>
                  <a:srgbClr val="B500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「視座の高さ」</a:t>
            </a:r>
            <a:r>
              <a:rPr lang="en-US" sz="1700" dirty="0">
                <a:solidFill>
                  <a:srgbClr val="B500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のこと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730752"/>
            <a:ext cx="8229600" cy="1024128"/>
          </a:xfrm>
          <a:prstGeom prst="rect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30752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状態もお金も、最後についてくるもの</a:t>
            </a:r>
            <a:endParaRPr lang="en-US" sz="19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どんな感情を感じていても6次元でいられる</a:t>
            </a:r>
            <a:endParaRPr lang="en-US" sz="19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だから「整えてから動く」は必要ない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0" y="4864608"/>
            <a:ext cx="9098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©︎2025  Meiko Oozeki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E2229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落とし穴 ②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749808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CC0066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1A2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行動の起点が「感情・気分」になっている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1397533"/>
            <a:ext cx="4572000" cy="22860"/>
          </a:xfrm>
          <a:prstGeom prst="rect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491" y="1710382"/>
            <a:ext cx="3840480" cy="2331720"/>
          </a:xfrm>
          <a:prstGeom prst="rect">
            <a:avLst/>
          </a:prstGeom>
          <a:solidFill>
            <a:srgbClr val="FFF5F5"/>
          </a:solidFill>
          <a:ln w="19050">
            <a:solidFill>
              <a:srgbClr val="FFAA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B500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❌  </a:t>
            </a:r>
            <a:r>
              <a:rPr lang="ja-JP" altLang="en-US" sz="1300" b="1">
                <a:solidFill>
                  <a:srgbClr val="B500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感情が行動起点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2980" y="2230016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やる気があるからやる</a:t>
            </a:r>
            <a:endParaRPr lang="en-US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気分がいいからやる</a:t>
            </a:r>
            <a:endParaRPr lang="en-US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怖いからやらない</a:t>
            </a:r>
            <a:endParaRPr lang="en-US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不快だからやらない</a:t>
            </a:r>
            <a:endParaRPr lang="en-US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b="1" dirty="0">
                <a:solidFill>
                  <a:srgbClr val="B5006E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→ 4次元と変わらない！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13702" y="1691640"/>
            <a:ext cx="4064538" cy="2331720"/>
          </a:xfrm>
          <a:prstGeom prst="rect">
            <a:avLst/>
          </a:prstGeom>
          <a:solidFill>
            <a:srgbClr val="FFDDF0"/>
          </a:solidFill>
          <a:ln w="19050">
            <a:solidFill>
              <a:srgbClr val="E222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3702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B500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⭕  魂</a:t>
            </a:r>
            <a:r>
              <a:rPr lang="ja-JP" altLang="en-US" sz="1300" b="1">
                <a:solidFill>
                  <a:srgbClr val="B500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1300" b="1">
                <a:solidFill>
                  <a:srgbClr val="B500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行動起点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3325" y="2194560"/>
            <a:ext cx="3990357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感情に関係なく</a:t>
            </a:r>
            <a:endParaRPr lang="en-US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来たものを受け取る</a:t>
            </a:r>
            <a:endParaRPr lang="en-US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ja-JP" altLang="en-US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やりたくなく</a:t>
            </a:r>
            <a:r>
              <a:rPr lang="en-US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ても</a:t>
            </a:r>
            <a:r>
              <a:rPr lang="ja-JP" altLang="en-US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、お金が減るのが怖くても</a:t>
            </a:r>
            <a:endParaRPr lang="en-US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「</a:t>
            </a:r>
            <a:r>
              <a:rPr lang="ja-JP" altLang="en-US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そうなりましたか</a:t>
            </a:r>
            <a:r>
              <a:rPr lang="en-US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」と受け取</a:t>
            </a:r>
            <a:r>
              <a:rPr lang="ja-JP" altLang="en-US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り続ける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魂が成長するときは必ずコンフォートゾーンの外　＝　不快なのは当たり前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0" y="4864608"/>
            <a:ext cx="9098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©︎2025  Meiko Oozeki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E2229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落とし穴 ③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749808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CC0066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1A2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感情を感じている自分を「本当の自分」だと思っている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0" y="1348710"/>
            <a:ext cx="4572000" cy="22860"/>
          </a:xfrm>
          <a:prstGeom prst="rect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700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怖い・やりたくない・落ち込んでいる「自分」を本物だと思う</a:t>
            </a:r>
            <a:endParaRPr lang="en-US" sz="1700" dirty="0"/>
          </a:p>
          <a:p>
            <a:pPr marL="0" indent="0" algn="l">
              <a:spcAft>
                <a:spcPts val="600"/>
              </a:spcAft>
              <a:buNone/>
            </a:pPr>
            <a:r>
              <a:rPr lang="ja-JP" altLang="en-US" sz="1700" b="1">
                <a:solidFill>
                  <a:srgbClr val="B5006E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→</a:t>
            </a:r>
            <a:r>
              <a:rPr lang="en-US" sz="170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感情は単なる電気信号・反応でしかない</a:t>
            </a:r>
            <a:r>
              <a:rPr lang="ja-JP" altLang="en-US" sz="170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（過去）</a:t>
            </a:r>
            <a:endParaRPr lang="en-US" sz="1700">
              <a:solidFill>
                <a:srgbClr val="2A1A2A"/>
              </a:solidFill>
              <a:latin typeface="BIZ UDP明朝 Medium" pitchFamily="34" charset="0"/>
              <a:ea typeface="BIZ UDP明朝 Medium" pitchFamily="34" charset="-122"/>
              <a:cs typeface="BIZ UDP明朝 Medium" pitchFamily="34" charset="-120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lang="ja-JP" altLang="en-US" sz="170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</a:rPr>
              <a:t>→流して観測して、魂はどうしたい？（</a:t>
            </a:r>
            <a:r>
              <a:rPr lang="en-US" altLang="ja-JP" sz="170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</a:rPr>
              <a:t>Day1)</a:t>
            </a:r>
          </a:p>
          <a:p>
            <a:pPr marL="0" indent="0" algn="l">
              <a:spcAft>
                <a:spcPts val="600"/>
              </a:spcAft>
              <a:buNone/>
            </a:pPr>
            <a:endParaRPr lang="en-US" altLang="ja-JP" sz="1700">
              <a:solidFill>
                <a:srgbClr val="2A1A2A"/>
              </a:solidFill>
              <a:latin typeface="BIZ UDP明朝 Medium" pitchFamily="34" charset="0"/>
              <a:ea typeface="BIZ UDP明朝 Medium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本当の自分　＝　魂の方</a:t>
            </a:r>
            <a:endParaRPr lang="en-US" sz="2200" dirty="0"/>
          </a:p>
          <a:p>
            <a:pPr marL="0" indent="0" algn="ctr">
              <a:buNone/>
            </a:pPr>
            <a:br>
              <a:rPr lang="en-US" sz="160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</a:br>
            <a:r>
              <a:rPr lang="en-US" sz="160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感情を感じている自分は</a:t>
            </a:r>
            <a:r>
              <a:rPr lang="en-US" sz="16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「幻」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その幻を自分だと思い込むのをやめる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0" y="4864608"/>
            <a:ext cx="9098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©︎2025  Meiko Oozeki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CC0066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E2229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3つの落とし穴　まとめ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0" y="868680"/>
            <a:ext cx="4572000" cy="22860"/>
          </a:xfrm>
          <a:prstGeom prst="rect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3017520"/>
          </a:xfrm>
          <a:prstGeom prst="rect">
            <a:avLst/>
          </a:prstGeom>
          <a:solidFill>
            <a:srgbClr val="FFDDF0"/>
          </a:solidFill>
          <a:ln w="19050">
            <a:solidFill>
              <a:srgbClr val="E222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078992"/>
            <a:ext cx="822960" cy="822960"/>
          </a:xfrm>
          <a:prstGeom prst="ellipse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078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00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6次元を「状態」だと思う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81635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気持ちいい感覚を取り戻そうとして執着する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3017520"/>
          </a:xfrm>
          <a:prstGeom prst="rect">
            <a:avLst/>
          </a:prstGeom>
          <a:solidFill>
            <a:srgbClr val="FFDDF0"/>
          </a:solidFill>
          <a:ln w="19050">
            <a:solidFill>
              <a:srgbClr val="E2229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078992"/>
            <a:ext cx="822960" cy="822960"/>
          </a:xfrm>
          <a:prstGeom prst="ellipse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078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00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行動起点が「感情」になる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81635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気分がいいからやる・怖いからやらないの繰り返し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3017520"/>
          </a:xfrm>
          <a:prstGeom prst="rect">
            <a:avLst/>
          </a:prstGeom>
          <a:solidFill>
            <a:srgbClr val="FFDDF0"/>
          </a:solidFill>
          <a:ln w="19050">
            <a:solidFill>
              <a:srgbClr val="E222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6600" y="1078992"/>
            <a:ext cx="822960" cy="822960"/>
          </a:xfrm>
          <a:prstGeom prst="ellipse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078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00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感情の自分を「本当の自分」と思う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81635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ジャッジのループから抜け出せなくなる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共通の原因　→　「3・4次元の視点に、気づかず戻っている」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0" y="4864608"/>
            <a:ext cx="9098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©︎2025  Meiko Oozeki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CC0066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229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落とし穴からの抜け出し方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286000" y="868680"/>
            <a:ext cx="4572000" cy="22860"/>
          </a:xfrm>
          <a:prstGeom prst="rect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FFDDF0"/>
          </a:solidFill>
          <a:ln w="25400">
            <a:solidFill>
              <a:srgbClr val="E222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CC0066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E2229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来たものを、受け取り続ける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700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怖くてもOK　　やりたくなくてもOK</a:t>
            </a:r>
            <a:endParaRPr lang="en-US" sz="17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700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感情は関係ない</a:t>
            </a:r>
            <a:endParaRPr lang="en-US" sz="17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700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魂が持ってきたものをただ受け取る　—　それだけでいい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 いい加減、目を覚ませ 」</a:t>
            </a:r>
            <a:endParaRPr lang="en-US" sz="20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感情を感じている自分が「自分」だと思うのをやめる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0" y="4864608"/>
            <a:ext cx="9098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©︎2025  Meiko Oozeki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どんな未来から…"/>
          <p:cNvSpPr txBox="1"/>
          <p:nvPr/>
        </p:nvSpPr>
        <p:spPr>
          <a:xfrm>
            <a:off x="2621145" y="2242202"/>
            <a:ext cx="3901710" cy="1334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 algn="ctr" defTabSz="133350">
              <a:lnSpc>
                <a:spcPct val="150000"/>
              </a:lnSpc>
              <a:defRPr sz="80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lang="ja-JP" altLang="en-US" sz="3000" noProof="1"/>
              <a:t>どんな未来から</a:t>
            </a:r>
          </a:p>
          <a:p>
            <a:pPr algn="ctr" defTabSz="133350">
              <a:lnSpc>
                <a:spcPct val="150000"/>
              </a:lnSpc>
              <a:defRPr sz="80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lang="ja-JP" altLang="en-US" sz="3000" noProof="1"/>
              <a:t>今を創りたいですか？</a:t>
            </a:r>
          </a:p>
        </p:txBody>
      </p:sp>
      <p:sp>
        <p:nvSpPr>
          <p:cNvPr id="392" name="「全部ある」６次元の世界線なら"/>
          <p:cNvSpPr txBox="1"/>
          <p:nvPr/>
        </p:nvSpPr>
        <p:spPr>
          <a:xfrm>
            <a:off x="1549660" y="1382608"/>
            <a:ext cx="5833328" cy="642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algn="ctr" defTabSz="355600">
              <a:lnSpc>
                <a:spcPct val="150000"/>
              </a:lnSpc>
              <a:spcBef>
                <a:spcPts val="0"/>
              </a:spcBef>
              <a:defRPr sz="80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3000" noProof="1"/>
              <a:t>「全部ある」６次元の世界線なら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６次元魂の自分を…"/>
          <p:cNvSpPr txBox="1"/>
          <p:nvPr/>
        </p:nvSpPr>
        <p:spPr>
          <a:xfrm>
            <a:off x="2234822" y="1469148"/>
            <a:ext cx="4674357" cy="2027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 algn="ctr" defTabSz="133350">
              <a:lnSpc>
                <a:spcPct val="150000"/>
              </a:lnSpc>
              <a:defRPr sz="80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lang="ja-JP" altLang="en-US" sz="3000" noProof="1"/>
              <a:t>６次元の魂の自分と</a:t>
            </a:r>
          </a:p>
          <a:p>
            <a:pPr algn="ctr" defTabSz="133350">
              <a:lnSpc>
                <a:spcPct val="150000"/>
              </a:lnSpc>
              <a:defRPr sz="80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lang="ja-JP" altLang="en-US" sz="3000" noProof="1"/>
              <a:t>（その未来にいる自分と）</a:t>
            </a:r>
          </a:p>
          <a:p>
            <a:pPr algn="ctr" defTabSz="133350">
              <a:lnSpc>
                <a:spcPct val="150000"/>
              </a:lnSpc>
              <a:defRPr sz="80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lang="ja-JP" altLang="en-US" sz="3000" noProof="1"/>
              <a:t>繋がってください♡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最高の自分で生きる"/>
          <p:cNvSpPr txBox="1"/>
          <p:nvPr/>
        </p:nvSpPr>
        <p:spPr>
          <a:xfrm>
            <a:off x="597674" y="360005"/>
            <a:ext cx="3082575" cy="442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2625" noProof="1"/>
              <a:t>最高の自分で生きる</a:t>
            </a:r>
          </a:p>
        </p:txBody>
      </p:sp>
      <p:sp>
        <p:nvSpPr>
          <p:cNvPr id="397" name="矢印"/>
          <p:cNvSpPr/>
          <p:nvPr/>
        </p:nvSpPr>
        <p:spPr>
          <a:xfrm rot="16200000" flipH="1">
            <a:off x="3358378" y="1703607"/>
            <a:ext cx="2427244" cy="476250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FFD479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 defTabSz="423863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lang="ja-JP" altLang="en-US" sz="1200" noProof="1"/>
          </a:p>
        </p:txBody>
      </p:sp>
      <p:sp>
        <p:nvSpPr>
          <p:cNvPr id="398" name="女の人"/>
          <p:cNvSpPr/>
          <p:nvPr/>
        </p:nvSpPr>
        <p:spPr>
          <a:xfrm>
            <a:off x="4289615" y="3269584"/>
            <a:ext cx="564770" cy="14138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 defTabSz="309563">
              <a:defRPr sz="3200">
                <a:latin typeface="Graphik"/>
                <a:ea typeface="Graphik"/>
                <a:cs typeface="Graphik"/>
                <a:sym typeface="Graphik"/>
              </a:defRPr>
            </a:pPr>
            <a:endParaRPr lang="ja-JP" altLang="en-US" sz="1200" noProof="1"/>
          </a:p>
        </p:txBody>
      </p:sp>
      <p:sp>
        <p:nvSpPr>
          <p:cNvPr id="399" name="線"/>
          <p:cNvSpPr/>
          <p:nvPr/>
        </p:nvSpPr>
        <p:spPr>
          <a:xfrm>
            <a:off x="4591528" y="4056023"/>
            <a:ext cx="1093215" cy="274251"/>
          </a:xfrm>
          <a:prstGeom prst="line">
            <a:avLst/>
          </a:prstGeom>
          <a:ln w="152400">
            <a:solidFill>
              <a:srgbClr val="FF9300"/>
            </a:solidFill>
            <a:miter lim="400000"/>
            <a:tailEnd type="triangle"/>
          </a:ln>
        </p:spPr>
        <p:txBody>
          <a:bodyPr lIns="19050" tIns="19050" rIns="19050" bIns="19050" anchor="ctr"/>
          <a:lstStyle/>
          <a:p>
            <a:endParaRPr lang="ja-JP" altLang="en-US" sz="675" noProof="1"/>
          </a:p>
        </p:txBody>
      </p:sp>
      <p:sp>
        <p:nvSpPr>
          <p:cNvPr id="400" name="線"/>
          <p:cNvSpPr/>
          <p:nvPr/>
        </p:nvSpPr>
        <p:spPr>
          <a:xfrm flipV="1">
            <a:off x="4566289" y="3395154"/>
            <a:ext cx="1143899" cy="296011"/>
          </a:xfrm>
          <a:prstGeom prst="line">
            <a:avLst/>
          </a:prstGeom>
          <a:ln w="152400">
            <a:solidFill>
              <a:srgbClr val="FF9300"/>
            </a:solidFill>
            <a:miter lim="400000"/>
            <a:tailEnd type="triangle"/>
          </a:ln>
        </p:spPr>
        <p:txBody>
          <a:bodyPr lIns="19050" tIns="19050" rIns="19050" bIns="19050" anchor="ctr"/>
          <a:lstStyle/>
          <a:p>
            <a:endParaRPr lang="ja-JP" altLang="en-US" sz="675" noProof="1"/>
          </a:p>
        </p:txBody>
      </p:sp>
      <p:sp>
        <p:nvSpPr>
          <p:cNvPr id="401" name="線"/>
          <p:cNvSpPr/>
          <p:nvPr/>
        </p:nvSpPr>
        <p:spPr>
          <a:xfrm flipH="1" flipV="1">
            <a:off x="3261856" y="3445146"/>
            <a:ext cx="1251316" cy="173837"/>
          </a:xfrm>
          <a:prstGeom prst="line">
            <a:avLst/>
          </a:prstGeom>
          <a:ln w="152400">
            <a:solidFill>
              <a:srgbClr val="FF9300"/>
            </a:solidFill>
            <a:miter lim="400000"/>
            <a:tailEnd type="triangle"/>
          </a:ln>
        </p:spPr>
        <p:txBody>
          <a:bodyPr lIns="19050" tIns="19050" rIns="19050" bIns="19050" anchor="ctr"/>
          <a:lstStyle/>
          <a:p>
            <a:endParaRPr lang="ja-JP" altLang="en-US" sz="675" noProof="1"/>
          </a:p>
        </p:txBody>
      </p:sp>
      <p:sp>
        <p:nvSpPr>
          <p:cNvPr id="402" name="線"/>
          <p:cNvSpPr/>
          <p:nvPr/>
        </p:nvSpPr>
        <p:spPr>
          <a:xfrm flipH="1" flipV="1">
            <a:off x="3584021" y="2773039"/>
            <a:ext cx="916307" cy="534859"/>
          </a:xfrm>
          <a:prstGeom prst="line">
            <a:avLst/>
          </a:prstGeom>
          <a:ln w="152400">
            <a:solidFill>
              <a:srgbClr val="FF9300"/>
            </a:solidFill>
            <a:miter lim="400000"/>
            <a:tailEnd type="triangle"/>
          </a:ln>
        </p:spPr>
        <p:txBody>
          <a:bodyPr lIns="19050" tIns="19050" rIns="19050" bIns="19050" anchor="ctr"/>
          <a:lstStyle/>
          <a:p>
            <a:endParaRPr lang="ja-JP" altLang="en-US" sz="675" noProof="1"/>
          </a:p>
        </p:txBody>
      </p:sp>
      <p:sp>
        <p:nvSpPr>
          <p:cNvPr id="403" name="あんな服着てみる"/>
          <p:cNvSpPr txBox="1"/>
          <p:nvPr/>
        </p:nvSpPr>
        <p:spPr>
          <a:xfrm>
            <a:off x="5374519" y="2182941"/>
            <a:ext cx="2590453" cy="419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algn="ctr">
              <a:defRPr sz="6600" b="1">
                <a:solidFill>
                  <a:srgbClr val="FF930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2475" noProof="1"/>
              <a:t>あんな服着てみる</a:t>
            </a:r>
          </a:p>
        </p:txBody>
      </p:sp>
      <p:sp>
        <p:nvSpPr>
          <p:cNvPr id="404" name="言ってみる"/>
          <p:cNvSpPr txBox="1"/>
          <p:nvPr/>
        </p:nvSpPr>
        <p:spPr>
          <a:xfrm>
            <a:off x="2141586" y="2350211"/>
            <a:ext cx="1633460" cy="419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algn="ctr">
              <a:defRPr sz="6600" b="1">
                <a:solidFill>
                  <a:srgbClr val="FF930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2475" noProof="1"/>
              <a:t>言ってみる</a:t>
            </a:r>
          </a:p>
        </p:txBody>
      </p:sp>
      <p:sp>
        <p:nvSpPr>
          <p:cNvPr id="405" name="やってみる"/>
          <p:cNvSpPr txBox="1"/>
          <p:nvPr/>
        </p:nvSpPr>
        <p:spPr>
          <a:xfrm>
            <a:off x="1549704" y="3285930"/>
            <a:ext cx="1633460" cy="419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algn="ctr">
              <a:defRPr sz="6600" b="1">
                <a:solidFill>
                  <a:srgbClr val="FF930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2475" noProof="1"/>
              <a:t>やってみる</a:t>
            </a:r>
          </a:p>
        </p:txBody>
      </p:sp>
      <p:sp>
        <p:nvSpPr>
          <p:cNvPr id="406" name="こんなもの食べてる"/>
          <p:cNvSpPr txBox="1"/>
          <p:nvPr/>
        </p:nvSpPr>
        <p:spPr>
          <a:xfrm>
            <a:off x="5733382" y="3040223"/>
            <a:ext cx="2909451" cy="419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algn="ctr">
              <a:defRPr sz="6600" b="1">
                <a:solidFill>
                  <a:srgbClr val="FF930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2475" noProof="1"/>
              <a:t>こんなもの食べてる</a:t>
            </a:r>
          </a:p>
        </p:txBody>
      </p:sp>
      <p:sp>
        <p:nvSpPr>
          <p:cNvPr id="407" name="出す＝放つ 行動と手放し"/>
          <p:cNvSpPr txBox="1"/>
          <p:nvPr/>
        </p:nvSpPr>
        <p:spPr>
          <a:xfrm>
            <a:off x="334953" y="879466"/>
            <a:ext cx="3866443" cy="419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algn="ctr">
              <a:defRPr sz="6600" b="1">
                <a:solidFill>
                  <a:srgbClr val="797979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2475" noProof="1"/>
              <a:t>出す＝放つ　行動と手放し</a:t>
            </a:r>
          </a:p>
        </p:txBody>
      </p:sp>
      <p:sp>
        <p:nvSpPr>
          <p:cNvPr id="408" name="最高のあなた"/>
          <p:cNvSpPr txBox="1"/>
          <p:nvPr/>
        </p:nvSpPr>
        <p:spPr>
          <a:xfrm>
            <a:off x="3921919" y="4664322"/>
            <a:ext cx="557845" cy="142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r>
              <a:rPr lang="ja-JP" altLang="en-US" sz="675" noProof="1"/>
              <a:t>最高のあなた</a:t>
            </a:r>
          </a:p>
        </p:txBody>
      </p:sp>
      <p:sp>
        <p:nvSpPr>
          <p:cNvPr id="409" name="線"/>
          <p:cNvSpPr/>
          <p:nvPr/>
        </p:nvSpPr>
        <p:spPr>
          <a:xfrm flipV="1">
            <a:off x="4640227" y="2645325"/>
            <a:ext cx="1006520" cy="790950"/>
          </a:xfrm>
          <a:prstGeom prst="line">
            <a:avLst/>
          </a:prstGeom>
          <a:ln w="152400">
            <a:solidFill>
              <a:srgbClr val="FF9300"/>
            </a:solidFill>
            <a:miter lim="400000"/>
            <a:tailEnd type="triangle"/>
          </a:ln>
        </p:spPr>
        <p:txBody>
          <a:bodyPr lIns="19050" tIns="19050" rIns="19050" bIns="19050" anchor="ctr"/>
          <a:lstStyle/>
          <a:p>
            <a:endParaRPr lang="ja-JP" altLang="en-US" sz="675" noProof="1"/>
          </a:p>
        </p:txBody>
      </p:sp>
      <p:sp>
        <p:nvSpPr>
          <p:cNvPr id="410" name="違和感を感じたらさようなら〜"/>
          <p:cNvSpPr txBox="1"/>
          <p:nvPr/>
        </p:nvSpPr>
        <p:spPr>
          <a:xfrm>
            <a:off x="5752213" y="3904042"/>
            <a:ext cx="2694392" cy="8002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 anchor="ctr">
            <a:spAutoFit/>
          </a:bodyPr>
          <a:lstStyle>
            <a:lvl1pPr algn="ctr">
              <a:defRPr sz="6600" b="1">
                <a:solidFill>
                  <a:srgbClr val="FF930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2475" noProof="1"/>
              <a:t>違和感を感じたらさようなら</a:t>
            </a:r>
            <a:r>
              <a:rPr lang="en-US" altLang="ja-JP" sz="2475" noProof="1"/>
              <a:t>〜</a:t>
            </a:r>
          </a:p>
        </p:txBody>
      </p:sp>
      <p:sp>
        <p:nvSpPr>
          <p:cNvPr id="411" name="線"/>
          <p:cNvSpPr/>
          <p:nvPr/>
        </p:nvSpPr>
        <p:spPr>
          <a:xfrm flipH="1">
            <a:off x="3262024" y="4011133"/>
            <a:ext cx="1248656" cy="288116"/>
          </a:xfrm>
          <a:prstGeom prst="line">
            <a:avLst/>
          </a:prstGeom>
          <a:ln w="152400">
            <a:solidFill>
              <a:srgbClr val="FF9300"/>
            </a:solidFill>
            <a:miter lim="400000"/>
            <a:tailEnd type="triangle"/>
          </a:ln>
        </p:spPr>
        <p:txBody>
          <a:bodyPr lIns="19050" tIns="19050" rIns="19050" bIns="19050" anchor="ctr"/>
          <a:lstStyle/>
          <a:p>
            <a:endParaRPr lang="ja-JP" altLang="en-US" sz="675" noProof="1"/>
          </a:p>
        </p:txBody>
      </p:sp>
      <p:sp>
        <p:nvSpPr>
          <p:cNvPr id="412" name="使ってみる"/>
          <p:cNvSpPr txBox="1"/>
          <p:nvPr/>
        </p:nvSpPr>
        <p:spPr>
          <a:xfrm>
            <a:off x="1587279" y="4221649"/>
            <a:ext cx="1633460" cy="419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algn="ctr">
              <a:defRPr sz="6600" b="1">
                <a:solidFill>
                  <a:srgbClr val="FF930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2475" noProof="1"/>
              <a:t>使ってみる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最高の自分で生きつづける"/>
          <p:cNvSpPr txBox="1"/>
          <p:nvPr/>
        </p:nvSpPr>
        <p:spPr>
          <a:xfrm>
            <a:off x="525532" y="360005"/>
            <a:ext cx="4097275" cy="442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2625" noProof="1"/>
              <a:t>最高の自分で生きつづける</a:t>
            </a:r>
          </a:p>
        </p:txBody>
      </p:sp>
      <p:sp>
        <p:nvSpPr>
          <p:cNvPr id="415" name="矢印"/>
          <p:cNvSpPr/>
          <p:nvPr/>
        </p:nvSpPr>
        <p:spPr>
          <a:xfrm rot="16200000" flipH="1">
            <a:off x="3358378" y="1703607"/>
            <a:ext cx="2427244" cy="476250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 defTabSz="423863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lang="ja-JP" altLang="en-US" sz="1200" noProof="1"/>
          </a:p>
        </p:txBody>
      </p:sp>
      <p:sp>
        <p:nvSpPr>
          <p:cNvPr id="416" name="女の人"/>
          <p:cNvSpPr/>
          <p:nvPr/>
        </p:nvSpPr>
        <p:spPr>
          <a:xfrm>
            <a:off x="4289615" y="3269584"/>
            <a:ext cx="564770" cy="14138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 defTabSz="309563">
              <a:defRPr sz="3200">
                <a:latin typeface="Graphik"/>
                <a:ea typeface="Graphik"/>
                <a:cs typeface="Graphik"/>
                <a:sym typeface="Graphik"/>
              </a:defRPr>
            </a:pPr>
            <a:endParaRPr lang="ja-JP" altLang="en-US" sz="1200" noProof="1"/>
          </a:p>
        </p:txBody>
      </p:sp>
      <p:sp>
        <p:nvSpPr>
          <p:cNvPr id="417" name="線"/>
          <p:cNvSpPr/>
          <p:nvPr/>
        </p:nvSpPr>
        <p:spPr>
          <a:xfrm>
            <a:off x="3693500" y="2661940"/>
            <a:ext cx="637893" cy="783289"/>
          </a:xfrm>
          <a:prstGeom prst="line">
            <a:avLst/>
          </a:prstGeom>
          <a:ln w="152400">
            <a:solidFill>
              <a:srgbClr val="FF8AD8"/>
            </a:solidFill>
            <a:miter lim="400000"/>
            <a:tailEnd type="triangle"/>
          </a:ln>
        </p:spPr>
        <p:txBody>
          <a:bodyPr lIns="19050" tIns="19050" rIns="19050" bIns="19050" anchor="ctr"/>
          <a:lstStyle/>
          <a:p>
            <a:endParaRPr lang="ja-JP" altLang="en-US" sz="675" noProof="1"/>
          </a:p>
        </p:txBody>
      </p:sp>
      <p:sp>
        <p:nvSpPr>
          <p:cNvPr id="418" name="線"/>
          <p:cNvSpPr/>
          <p:nvPr/>
        </p:nvSpPr>
        <p:spPr>
          <a:xfrm flipH="1">
            <a:off x="4791720" y="2699698"/>
            <a:ext cx="859638" cy="711659"/>
          </a:xfrm>
          <a:prstGeom prst="line">
            <a:avLst/>
          </a:prstGeom>
          <a:ln w="152400">
            <a:solidFill>
              <a:srgbClr val="FF8AD8"/>
            </a:solidFill>
            <a:miter lim="400000"/>
            <a:tailEnd type="triangle"/>
          </a:ln>
        </p:spPr>
        <p:txBody>
          <a:bodyPr lIns="19050" tIns="19050" rIns="19050" bIns="19050" anchor="ctr"/>
          <a:lstStyle/>
          <a:p>
            <a:endParaRPr lang="ja-JP" altLang="en-US" sz="675" noProof="1"/>
          </a:p>
        </p:txBody>
      </p:sp>
      <p:sp>
        <p:nvSpPr>
          <p:cNvPr id="419" name="線"/>
          <p:cNvSpPr/>
          <p:nvPr/>
        </p:nvSpPr>
        <p:spPr>
          <a:xfrm flipH="1">
            <a:off x="4941453" y="3528988"/>
            <a:ext cx="965798" cy="194615"/>
          </a:xfrm>
          <a:prstGeom prst="line">
            <a:avLst/>
          </a:prstGeom>
          <a:ln w="152400">
            <a:solidFill>
              <a:srgbClr val="FF8AD8"/>
            </a:solidFill>
            <a:miter lim="400000"/>
            <a:tailEnd type="triangle"/>
          </a:ln>
        </p:spPr>
        <p:txBody>
          <a:bodyPr lIns="19050" tIns="19050" rIns="19050" bIns="19050" anchor="ctr"/>
          <a:lstStyle/>
          <a:p>
            <a:endParaRPr lang="ja-JP" altLang="en-US" sz="675" noProof="1"/>
          </a:p>
        </p:txBody>
      </p:sp>
      <p:sp>
        <p:nvSpPr>
          <p:cNvPr id="420" name="線"/>
          <p:cNvSpPr/>
          <p:nvPr/>
        </p:nvSpPr>
        <p:spPr>
          <a:xfrm>
            <a:off x="3328696" y="3496463"/>
            <a:ext cx="873851" cy="325904"/>
          </a:xfrm>
          <a:prstGeom prst="line">
            <a:avLst/>
          </a:prstGeom>
          <a:ln w="152400">
            <a:solidFill>
              <a:srgbClr val="FF8AD8"/>
            </a:solidFill>
            <a:miter lim="400000"/>
            <a:tailEnd type="triangle"/>
          </a:ln>
        </p:spPr>
        <p:txBody>
          <a:bodyPr lIns="19050" tIns="19050" rIns="19050" bIns="19050" anchor="ctr"/>
          <a:lstStyle/>
          <a:p>
            <a:endParaRPr lang="ja-JP" altLang="en-US" sz="675" noProof="1"/>
          </a:p>
        </p:txBody>
      </p:sp>
      <p:sp>
        <p:nvSpPr>
          <p:cNvPr id="421" name="お誘い・お声がかかる"/>
          <p:cNvSpPr txBox="1"/>
          <p:nvPr/>
        </p:nvSpPr>
        <p:spPr>
          <a:xfrm>
            <a:off x="5028469" y="2271598"/>
            <a:ext cx="3228448" cy="419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algn="ctr">
              <a:defRPr sz="6600" b="1">
                <a:solidFill>
                  <a:srgbClr val="FF8AD8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2475" noProof="1"/>
              <a:t>お誘い・お声がかかる</a:t>
            </a:r>
          </a:p>
        </p:txBody>
      </p:sp>
      <p:sp>
        <p:nvSpPr>
          <p:cNvPr id="422" name="これ言って〜"/>
          <p:cNvSpPr txBox="1"/>
          <p:nvPr/>
        </p:nvSpPr>
        <p:spPr>
          <a:xfrm>
            <a:off x="2094159" y="2233690"/>
            <a:ext cx="1952459" cy="419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algn="ctr">
              <a:defRPr sz="6600" b="1">
                <a:solidFill>
                  <a:srgbClr val="FF8AD8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2475" noProof="1"/>
              <a:t>これ言って</a:t>
            </a:r>
            <a:r>
              <a:rPr lang="en-US" altLang="ja-JP" sz="2475" noProof="1"/>
              <a:t>〜</a:t>
            </a:r>
          </a:p>
        </p:txBody>
      </p:sp>
      <p:sp>
        <p:nvSpPr>
          <p:cNvPr id="423" name="やってみて欲しい♡"/>
          <p:cNvSpPr txBox="1"/>
          <p:nvPr/>
        </p:nvSpPr>
        <p:spPr>
          <a:xfrm>
            <a:off x="642920" y="3090923"/>
            <a:ext cx="2808462" cy="419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algn="ctr">
              <a:defRPr sz="6600" b="1">
                <a:solidFill>
                  <a:srgbClr val="FF8AD8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2475" noProof="1"/>
              <a:t>やってみて欲しい♡</a:t>
            </a:r>
          </a:p>
        </p:txBody>
      </p:sp>
      <p:sp>
        <p:nvSpPr>
          <p:cNvPr id="424" name="食べてみてよ！"/>
          <p:cNvSpPr txBox="1"/>
          <p:nvPr/>
        </p:nvSpPr>
        <p:spPr>
          <a:xfrm>
            <a:off x="5981091" y="3203957"/>
            <a:ext cx="2271456" cy="419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algn="ctr">
              <a:defRPr sz="6600" b="1">
                <a:solidFill>
                  <a:srgbClr val="FF8AD8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2475" noProof="1"/>
              <a:t>食べてみてよ！</a:t>
            </a:r>
          </a:p>
        </p:txBody>
      </p:sp>
      <p:sp>
        <p:nvSpPr>
          <p:cNvPr id="425" name="→受け取る"/>
          <p:cNvSpPr txBox="1"/>
          <p:nvPr/>
        </p:nvSpPr>
        <p:spPr>
          <a:xfrm>
            <a:off x="1410777" y="878764"/>
            <a:ext cx="1633460" cy="419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algn="ctr">
              <a:defRPr sz="6600" b="1">
                <a:solidFill>
                  <a:srgbClr val="797979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2475" noProof="1"/>
              <a:t>→受け取る</a:t>
            </a:r>
          </a:p>
        </p:txBody>
      </p:sp>
      <p:sp>
        <p:nvSpPr>
          <p:cNvPr id="426" name="最高のあなた"/>
          <p:cNvSpPr txBox="1"/>
          <p:nvPr/>
        </p:nvSpPr>
        <p:spPr>
          <a:xfrm>
            <a:off x="3921919" y="4673339"/>
            <a:ext cx="557845" cy="142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r>
              <a:rPr lang="ja-JP" altLang="en-US" sz="675" noProof="1"/>
              <a:t>最高のあなた</a:t>
            </a:r>
          </a:p>
        </p:txBody>
      </p:sp>
      <p:sp>
        <p:nvSpPr>
          <p:cNvPr id="427" name="直感・出会い・環境・お金・言葉"/>
          <p:cNvSpPr txBox="1"/>
          <p:nvPr/>
        </p:nvSpPr>
        <p:spPr>
          <a:xfrm>
            <a:off x="2259478" y="3998996"/>
            <a:ext cx="4823436" cy="419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algn="ctr">
              <a:defRPr sz="6600" b="1">
                <a:solidFill>
                  <a:srgbClr val="FF8AD8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2475" noProof="1"/>
              <a:t>直感・出会い・環境・お金・言葉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今の自分じゃなくて…"/>
          <p:cNvSpPr txBox="1"/>
          <p:nvPr/>
        </p:nvSpPr>
        <p:spPr>
          <a:xfrm>
            <a:off x="2229593" y="1211763"/>
            <a:ext cx="4288033" cy="2719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 algn="ctr" defTabSz="133350">
              <a:lnSpc>
                <a:spcPct val="150000"/>
              </a:lnSpc>
              <a:defRPr sz="80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lang="ja-JP" altLang="en-US" sz="3000" noProof="1"/>
              <a:t>今の自分じゃなくて</a:t>
            </a:r>
          </a:p>
          <a:p>
            <a:pPr algn="ctr" defTabSz="133350">
              <a:lnSpc>
                <a:spcPct val="150000"/>
              </a:lnSpc>
              <a:defRPr sz="80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lang="ja-JP" altLang="en-US" sz="3000" noProof="1"/>
              <a:t>その</a:t>
            </a:r>
            <a:r>
              <a:rPr lang="ja-JP" altLang="en-US" sz="3000" u="sng" noProof="1"/>
              <a:t>魂の自分</a:t>
            </a:r>
          </a:p>
          <a:p>
            <a:pPr algn="ctr" defTabSz="133350">
              <a:lnSpc>
                <a:spcPct val="150000"/>
              </a:lnSpc>
              <a:defRPr sz="80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lang="ja-JP" altLang="en-US" sz="3000" u="sng" noProof="1"/>
              <a:t>（最高の未来の自分）で</a:t>
            </a:r>
          </a:p>
          <a:p>
            <a:pPr algn="ctr" defTabSz="133350">
              <a:lnSpc>
                <a:spcPct val="150000"/>
              </a:lnSpc>
              <a:defRPr sz="80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lang="ja-JP" altLang="en-US" sz="3000" u="sng" noProof="1"/>
              <a:t>行動選択・ただ生きる</a:t>
            </a:r>
          </a:p>
        </p:txBody>
      </p:sp>
      <p:sp>
        <p:nvSpPr>
          <p:cNvPr id="430" name="４次元"/>
          <p:cNvSpPr txBox="1"/>
          <p:nvPr/>
        </p:nvSpPr>
        <p:spPr>
          <a:xfrm>
            <a:off x="6652878" y="1560657"/>
            <a:ext cx="298159" cy="142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>
              <a:defRPr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675" noProof="1"/>
              <a:t>４次元</a:t>
            </a:r>
          </a:p>
        </p:txBody>
      </p:sp>
      <p:sp>
        <p:nvSpPr>
          <p:cNvPr id="431" name="５・６次元"/>
          <p:cNvSpPr txBox="1"/>
          <p:nvPr/>
        </p:nvSpPr>
        <p:spPr>
          <a:xfrm>
            <a:off x="6652878" y="2500577"/>
            <a:ext cx="471283" cy="142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>
              <a:defRPr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675" noProof="1"/>
              <a:t>５・６次元</a:t>
            </a:r>
          </a:p>
        </p:txBody>
      </p:sp>
      <p:sp>
        <p:nvSpPr>
          <p:cNvPr id="432" name="３次元"/>
          <p:cNvSpPr txBox="1"/>
          <p:nvPr/>
        </p:nvSpPr>
        <p:spPr>
          <a:xfrm>
            <a:off x="6806179" y="3630909"/>
            <a:ext cx="298159" cy="142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>
              <a:defRPr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ja-JP" altLang="en-US" sz="675" noProof="1"/>
              <a:t>３次元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４次元と５・６次元の違い"/>
          <p:cNvSpPr txBox="1"/>
          <p:nvPr/>
        </p:nvSpPr>
        <p:spPr>
          <a:xfrm>
            <a:off x="525532" y="360005"/>
            <a:ext cx="4097275" cy="442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 defTabSz="4763" hangingPunct="0">
              <a:tabLst>
                <a:tab pos="133350" algn="l"/>
                <a:tab pos="266700" algn="l"/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  <a:tab pos="1466850" algn="l"/>
                <a:tab pos="1600200" algn="l"/>
              </a:tabLst>
            </a:pPr>
            <a:r>
              <a:rPr lang="ja-JP" altLang="en-US" sz="2625" kern="0" noProof="1"/>
              <a:t>４次元と５・６次元の違い</a:t>
            </a:r>
          </a:p>
        </p:txBody>
      </p:sp>
      <p:sp>
        <p:nvSpPr>
          <p:cNvPr id="343" name="角丸四角形"/>
          <p:cNvSpPr/>
          <p:nvPr/>
        </p:nvSpPr>
        <p:spPr>
          <a:xfrm>
            <a:off x="621438" y="965135"/>
            <a:ext cx="3851551" cy="3657823"/>
          </a:xfrm>
          <a:prstGeom prst="roundRect">
            <a:avLst>
              <a:gd name="adj" fmla="val 14586"/>
            </a:avLst>
          </a:prstGeom>
          <a:solidFill>
            <a:srgbClr val="76D6FF">
              <a:alpha val="52237"/>
            </a:srgbClr>
          </a:solidFill>
          <a:ln w="63500">
            <a:solidFill>
              <a:srgbClr val="0096FF"/>
            </a:solidFill>
            <a:prstDash val="sysDot"/>
            <a:miter lim="400000"/>
          </a:ln>
        </p:spPr>
        <p:txBody>
          <a:bodyPr lIns="19050" tIns="19050" rIns="19050" bIns="19050" anchor="ctr"/>
          <a:lstStyle/>
          <a:p>
            <a:pPr algn="ctr" defTabSz="423863" hangingPunct="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lang="ja-JP" altLang="en-US" sz="1200" kern="0" noProof="1">
              <a:solidFill>
                <a:srgbClr val="FFFFFF"/>
              </a:solidFill>
              <a:latin typeface="Graphik"/>
              <a:sym typeface="Graphik"/>
            </a:endParaRPr>
          </a:p>
        </p:txBody>
      </p:sp>
      <p:sp>
        <p:nvSpPr>
          <p:cNvPr id="344" name="四角形"/>
          <p:cNvSpPr/>
          <p:nvPr/>
        </p:nvSpPr>
        <p:spPr>
          <a:xfrm>
            <a:off x="868219" y="1205065"/>
            <a:ext cx="3347045" cy="914873"/>
          </a:xfrm>
          <a:prstGeom prst="rect">
            <a:avLst/>
          </a:prstGeom>
          <a:solidFill>
            <a:srgbClr val="01199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 defTabSz="423863" hangingPunct="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lang="ja-JP" altLang="en-US" sz="1200" kern="0" noProof="1">
              <a:solidFill>
                <a:srgbClr val="FFFFFF"/>
              </a:solidFill>
              <a:latin typeface="Graphik"/>
              <a:sym typeface="Graphik"/>
            </a:endParaRPr>
          </a:p>
        </p:txBody>
      </p:sp>
      <p:sp>
        <p:nvSpPr>
          <p:cNvPr id="345" name="原因と結果（因果）…"/>
          <p:cNvSpPr txBox="1"/>
          <p:nvPr/>
        </p:nvSpPr>
        <p:spPr>
          <a:xfrm>
            <a:off x="941004" y="1313437"/>
            <a:ext cx="3212419" cy="610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 algn="ctr" defTabSz="914377" hangingPunct="0">
              <a:lnSpc>
                <a:spcPct val="90000"/>
              </a:lnSpc>
              <a:spcBef>
                <a:spcPts val="900"/>
              </a:spcBef>
              <a:defRPr>
                <a:solidFill>
                  <a:srgbClr val="FFFFFF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pPr>
            <a:r>
              <a:rPr lang="ja-JP" altLang="en-US" sz="1650" kern="0" noProof="1">
                <a:solidFill>
                  <a:srgbClr val="FFFFFF"/>
                </a:solidFill>
                <a:latin typeface="ヒラギノ角ゴ ProN W6"/>
                <a:sym typeface="ヒラギノ角ゴ ProN W6"/>
              </a:rPr>
              <a:t>原因と結果（因果）</a:t>
            </a:r>
          </a:p>
          <a:p>
            <a:pPr algn="ctr" defTabSz="914377" hangingPunct="0">
              <a:lnSpc>
                <a:spcPct val="90000"/>
              </a:lnSpc>
              <a:spcBef>
                <a:spcPts val="900"/>
              </a:spcBef>
              <a:defRPr>
                <a:solidFill>
                  <a:srgbClr val="FFFFFF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pPr>
            <a:r>
              <a:rPr lang="ja-JP" altLang="en-US" sz="1650" kern="0" noProof="1">
                <a:solidFill>
                  <a:srgbClr val="FFFFFF"/>
                </a:solidFill>
                <a:latin typeface="ヒラギノ角ゴ ProN W6"/>
                <a:sym typeface="ヒラギノ角ゴ ProN W6"/>
              </a:rPr>
              <a:t>陰陽・正誤・良い悪い（二元論）</a:t>
            </a:r>
          </a:p>
        </p:txBody>
      </p:sp>
      <p:sp>
        <p:nvSpPr>
          <p:cNvPr id="346" name="角丸四角形"/>
          <p:cNvSpPr/>
          <p:nvPr/>
        </p:nvSpPr>
        <p:spPr>
          <a:xfrm>
            <a:off x="4825815" y="965135"/>
            <a:ext cx="3887199" cy="3692837"/>
          </a:xfrm>
          <a:prstGeom prst="roundRect">
            <a:avLst>
              <a:gd name="adj" fmla="val 14581"/>
            </a:avLst>
          </a:prstGeom>
          <a:solidFill>
            <a:srgbClr val="FFFC79"/>
          </a:solidFill>
          <a:ln w="63500">
            <a:solidFill>
              <a:srgbClr val="FFD479"/>
            </a:solidFill>
            <a:prstDash val="sysDot"/>
            <a:miter lim="400000"/>
          </a:ln>
        </p:spPr>
        <p:txBody>
          <a:bodyPr lIns="19050" tIns="19050" rIns="19050" bIns="19050" anchor="ctr"/>
          <a:lstStyle/>
          <a:p>
            <a:pPr algn="ctr" defTabSz="423863" hangingPunct="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lang="ja-JP" altLang="en-US" sz="1200" kern="0" noProof="1">
              <a:solidFill>
                <a:srgbClr val="FFFFFF"/>
              </a:solidFill>
              <a:latin typeface="Graphik"/>
              <a:sym typeface="Graphik"/>
            </a:endParaRPr>
          </a:p>
        </p:txBody>
      </p:sp>
      <p:sp>
        <p:nvSpPr>
          <p:cNvPr id="347" name="四角形"/>
          <p:cNvSpPr/>
          <p:nvPr/>
        </p:nvSpPr>
        <p:spPr>
          <a:xfrm>
            <a:off x="5078067" y="1205065"/>
            <a:ext cx="3347045" cy="69098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 defTabSz="309563" hangingPunct="0">
              <a:defRPr sz="3200">
                <a:solidFill>
                  <a:srgbClr val="FF9300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lang="ja-JP" altLang="en-US" sz="1200" kern="0" noProof="1">
              <a:solidFill>
                <a:srgbClr val="FF9300"/>
              </a:solidFill>
              <a:latin typeface="Graphik"/>
              <a:sym typeface="Graphik"/>
            </a:endParaRPr>
          </a:p>
        </p:txBody>
      </p:sp>
      <p:sp>
        <p:nvSpPr>
          <p:cNvPr id="348" name="全てが“ある”"/>
          <p:cNvSpPr txBox="1"/>
          <p:nvPr/>
        </p:nvSpPr>
        <p:spPr>
          <a:xfrm>
            <a:off x="6115198" y="1417057"/>
            <a:ext cx="1272785" cy="266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algn="ctr">
              <a:defRPr>
                <a:solidFill>
                  <a:srgbClr val="011993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</a:lstStyle>
          <a:p>
            <a:pPr defTabSz="914377" hangingPunct="0">
              <a:lnSpc>
                <a:spcPct val="90000"/>
              </a:lnSpc>
              <a:spcBef>
                <a:spcPts val="900"/>
              </a:spcBef>
            </a:pPr>
            <a:r>
              <a:rPr lang="ja-JP" altLang="en-US" sz="1650" kern="0" noProof="1"/>
              <a:t>全てが“ある”</a:t>
            </a:r>
          </a:p>
        </p:txBody>
      </p:sp>
      <p:sp>
        <p:nvSpPr>
          <p:cNvPr id="349" name="・誰かや何かと比べる…"/>
          <p:cNvSpPr txBox="1"/>
          <p:nvPr/>
        </p:nvSpPr>
        <p:spPr>
          <a:xfrm>
            <a:off x="721273" y="2361926"/>
            <a:ext cx="3847207" cy="1642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 defTabSz="914377" hangingPunct="0">
              <a:lnSpc>
                <a:spcPct val="90000"/>
              </a:lnSpc>
              <a:spcBef>
                <a:spcPts val="900"/>
              </a:spcBef>
              <a:defRPr>
                <a:solidFill>
                  <a:srgbClr val="011993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pPr>
            <a:r>
              <a:rPr lang="ja-JP" altLang="en-US" sz="1650" kern="0" noProof="1">
                <a:solidFill>
                  <a:srgbClr val="011993"/>
                </a:solidFill>
                <a:latin typeface="ヒラギノ角ゴ ProN W6"/>
                <a:sym typeface="ヒラギノ角ゴ ProN W6"/>
              </a:rPr>
              <a:t>・誰かや何かと比べる</a:t>
            </a:r>
          </a:p>
          <a:p>
            <a:pPr defTabSz="914377" hangingPunct="0">
              <a:lnSpc>
                <a:spcPct val="90000"/>
              </a:lnSpc>
              <a:spcBef>
                <a:spcPts val="900"/>
              </a:spcBef>
              <a:defRPr>
                <a:solidFill>
                  <a:srgbClr val="011993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pPr>
            <a:r>
              <a:rPr lang="ja-JP" altLang="en-US" sz="1650" kern="0" noProof="1">
                <a:solidFill>
                  <a:srgbClr val="011993"/>
                </a:solidFill>
                <a:latin typeface="ヒラギノ角ゴ ProN W6"/>
                <a:sym typeface="ヒラギノ角ゴ ProN W6"/>
              </a:rPr>
              <a:t>・行動や結果だけをジャッジ（言い訳）</a:t>
            </a:r>
          </a:p>
          <a:p>
            <a:pPr defTabSz="914377" hangingPunct="0">
              <a:lnSpc>
                <a:spcPct val="90000"/>
              </a:lnSpc>
              <a:spcBef>
                <a:spcPts val="900"/>
              </a:spcBef>
              <a:defRPr>
                <a:solidFill>
                  <a:srgbClr val="011993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pPr>
            <a:r>
              <a:rPr lang="ja-JP" altLang="en-US" sz="1650" kern="0" noProof="1">
                <a:solidFill>
                  <a:srgbClr val="011993"/>
                </a:solidFill>
                <a:latin typeface="ヒラギノ角ゴ ProN W6"/>
                <a:sym typeface="ヒラギノ角ゴ ProN W6"/>
              </a:rPr>
              <a:t>・正解や良いものを外に求める</a:t>
            </a:r>
          </a:p>
          <a:p>
            <a:pPr defTabSz="914377" hangingPunct="0">
              <a:lnSpc>
                <a:spcPct val="90000"/>
              </a:lnSpc>
              <a:spcBef>
                <a:spcPts val="900"/>
              </a:spcBef>
              <a:defRPr>
                <a:solidFill>
                  <a:srgbClr val="011993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pPr>
            <a:r>
              <a:rPr lang="ja-JP" altLang="en-US" sz="1650" kern="0" noProof="1">
                <a:solidFill>
                  <a:srgbClr val="011993"/>
                </a:solidFill>
                <a:latin typeface="ヒラギノ角ゴ ProN W6"/>
                <a:sym typeface="ヒラギノ角ゴ ProN W6"/>
              </a:rPr>
              <a:t>・思考的に一般論を求める</a:t>
            </a:r>
          </a:p>
          <a:p>
            <a:pPr defTabSz="914377" hangingPunct="0">
              <a:lnSpc>
                <a:spcPct val="90000"/>
              </a:lnSpc>
              <a:spcBef>
                <a:spcPts val="900"/>
              </a:spcBef>
              <a:defRPr>
                <a:solidFill>
                  <a:srgbClr val="011993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pPr>
            <a:r>
              <a:rPr lang="ja-JP" altLang="en-US" sz="1650" kern="0" noProof="1">
                <a:solidFill>
                  <a:srgbClr val="011993"/>
                </a:solidFill>
                <a:latin typeface="ヒラギノ角ゴ ProN W6"/>
                <a:sym typeface="ヒラギノ角ゴ ProN W6"/>
              </a:rPr>
              <a:t>・感情も欲求も受容できない</a:t>
            </a:r>
          </a:p>
        </p:txBody>
      </p:sp>
      <p:sp>
        <p:nvSpPr>
          <p:cNvPr id="350" name="・良いも悪いもない…"/>
          <p:cNvSpPr txBox="1"/>
          <p:nvPr/>
        </p:nvSpPr>
        <p:spPr>
          <a:xfrm>
            <a:off x="5053759" y="2189956"/>
            <a:ext cx="3424014" cy="1986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 defTabSz="914377" hangingPunct="0">
              <a:lnSpc>
                <a:spcPct val="90000"/>
              </a:lnSpc>
              <a:spcBef>
                <a:spcPts val="900"/>
              </a:spcBef>
              <a:defRPr>
                <a:solidFill>
                  <a:srgbClr val="011993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pPr>
            <a:r>
              <a:rPr lang="ja-JP" altLang="en-US" sz="1650" kern="0" noProof="1">
                <a:solidFill>
                  <a:srgbClr val="011993"/>
                </a:solidFill>
                <a:latin typeface="ヒラギノ角ゴ ProN W6"/>
                <a:sym typeface="ヒラギノ角ゴ ProN W6"/>
              </a:rPr>
              <a:t>・良いも悪いもない</a:t>
            </a:r>
          </a:p>
          <a:p>
            <a:pPr defTabSz="914377" hangingPunct="0">
              <a:lnSpc>
                <a:spcPct val="90000"/>
              </a:lnSpc>
              <a:spcBef>
                <a:spcPts val="900"/>
              </a:spcBef>
              <a:defRPr>
                <a:solidFill>
                  <a:srgbClr val="011993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pPr>
            <a:r>
              <a:rPr lang="ja-JP" altLang="en-US" sz="1650" kern="0" noProof="1">
                <a:solidFill>
                  <a:srgbClr val="011993"/>
                </a:solidFill>
                <a:latin typeface="ヒラギノ角ゴ ProN W6"/>
                <a:sym typeface="ヒラギノ角ゴ ProN W6"/>
              </a:rPr>
              <a:t>・唯一無二、違いがあるだけ</a:t>
            </a:r>
          </a:p>
          <a:p>
            <a:pPr defTabSz="914377" hangingPunct="0">
              <a:lnSpc>
                <a:spcPct val="90000"/>
              </a:lnSpc>
              <a:spcBef>
                <a:spcPts val="900"/>
              </a:spcBef>
              <a:defRPr>
                <a:solidFill>
                  <a:srgbClr val="011993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pPr>
            <a:r>
              <a:rPr lang="ja-JP" altLang="en-US" sz="1650" kern="0" noProof="1">
                <a:solidFill>
                  <a:srgbClr val="011993"/>
                </a:solidFill>
                <a:latin typeface="ヒラギノ角ゴ ProN W6"/>
                <a:sym typeface="ヒラギノ角ゴ ProN W6"/>
              </a:rPr>
              <a:t>・原因と結果は関係ない</a:t>
            </a:r>
          </a:p>
          <a:p>
            <a:pPr defTabSz="914377" hangingPunct="0">
              <a:lnSpc>
                <a:spcPct val="90000"/>
              </a:lnSpc>
              <a:spcBef>
                <a:spcPts val="900"/>
              </a:spcBef>
              <a:defRPr>
                <a:solidFill>
                  <a:srgbClr val="011993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pPr>
            <a:r>
              <a:rPr lang="ja-JP" altLang="en-US" sz="1650" kern="0" noProof="1">
                <a:solidFill>
                  <a:srgbClr val="011993"/>
                </a:solidFill>
                <a:latin typeface="ヒラギノ角ゴ ProN W6"/>
                <a:sym typeface="ヒラギノ角ゴ ProN W6"/>
              </a:rPr>
              <a:t>・直感や魂の喜びだけで生きられる</a:t>
            </a:r>
          </a:p>
          <a:p>
            <a:pPr defTabSz="914377" hangingPunct="0">
              <a:lnSpc>
                <a:spcPct val="90000"/>
              </a:lnSpc>
              <a:spcBef>
                <a:spcPts val="900"/>
              </a:spcBef>
              <a:defRPr>
                <a:solidFill>
                  <a:srgbClr val="011993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pPr>
            <a:r>
              <a:rPr lang="ja-JP" altLang="en-US" sz="1650" kern="0" noProof="1">
                <a:solidFill>
                  <a:srgbClr val="011993"/>
                </a:solidFill>
                <a:latin typeface="ヒラギノ角ゴ ProN W6"/>
                <a:sym typeface="ヒラギノ角ゴ ProN W6"/>
              </a:rPr>
              <a:t>・感情も欲求も全部</a:t>
            </a:r>
            <a:r>
              <a:rPr lang="en-US" altLang="ja-JP" sz="1650" kern="0" noProof="1">
                <a:solidFill>
                  <a:srgbClr val="011993"/>
                </a:solidFill>
                <a:latin typeface="ヒラギノ角ゴ ProN W6"/>
                <a:sym typeface="ヒラギノ角ゴ ProN W6"/>
              </a:rPr>
              <a:t>OK</a:t>
            </a:r>
            <a:r>
              <a:rPr lang="ja-JP" altLang="en-US" sz="1650" kern="0" noProof="1">
                <a:solidFill>
                  <a:srgbClr val="011993"/>
                </a:solidFill>
                <a:latin typeface="ヒラギノ角ゴ ProN W6"/>
                <a:sym typeface="ヒラギノ角ゴ ProN W6"/>
              </a:rPr>
              <a:t>！</a:t>
            </a:r>
          </a:p>
          <a:p>
            <a:pPr defTabSz="914377" hangingPunct="0">
              <a:lnSpc>
                <a:spcPct val="90000"/>
              </a:lnSpc>
              <a:spcBef>
                <a:spcPts val="900"/>
              </a:spcBef>
              <a:defRPr>
                <a:solidFill>
                  <a:srgbClr val="011993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pPr>
            <a:r>
              <a:rPr lang="ja-JP" altLang="en-US" sz="1650" kern="0" noProof="1">
                <a:solidFill>
                  <a:srgbClr val="011993"/>
                </a:solidFill>
                <a:latin typeface="ヒラギノ角ゴ ProN W6"/>
                <a:sym typeface="ヒラギノ角ゴ ProN W6"/>
              </a:rPr>
              <a:t>・魂の望みを素直に実行できる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274320"/>
            <a:ext cx="5486400" cy="4572000"/>
          </a:xfrm>
          <a:prstGeom prst="ellipse">
            <a:avLst/>
          </a:prstGeom>
          <a:solidFill>
            <a:srgbClr val="FFDDF0">
              <a:alpha val="45000"/>
            </a:srgbClr>
          </a:solidFill>
          <a:ln w="12700">
            <a:solidFill>
              <a:srgbClr val="FFDDF0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CC0066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229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今日のまとめ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0" y="960120"/>
            <a:ext cx="4572000" cy="22860"/>
          </a:xfrm>
          <a:prstGeom prst="rect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CC0066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A1A2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6次元化の後にハマる落とし穴は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E2229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 4次元の視点に、気づかず戻っているだけ 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933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6A7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完全には元に戻らない。でも、気づかないと一生ループする。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542032"/>
            <a:ext cx="4572000" cy="22860"/>
          </a:xfrm>
          <a:prstGeom prst="rect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724912"/>
            <a:ext cx="347472" cy="347472"/>
          </a:xfrm>
          <a:prstGeom prst="ellipse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270662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感情を「情報」として見る（自分だと思わない）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3291840"/>
            <a:ext cx="347472" cy="347472"/>
          </a:xfrm>
          <a:prstGeom prst="ellipse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327355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来たものをまず受け取ってみる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88720" y="3858768"/>
            <a:ext cx="347472" cy="347472"/>
          </a:xfrm>
          <a:prstGeom prst="ellipse">
            <a:avLst/>
          </a:prstGeom>
          <a:solidFill>
            <a:srgbClr val="E22294"/>
          </a:solidFill>
          <a:ln w="12700">
            <a:solidFill>
              <a:srgbClr val="E222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91640" y="38404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A1A2A"/>
                </a:solidFill>
                <a:latin typeface="BIZ UDP明朝 Medium" pitchFamily="34" charset="0"/>
                <a:ea typeface="BIZ UDP明朝 Medium" pitchFamily="34" charset="-122"/>
                <a:cs typeface="BIZ UDP明朝 Medium" pitchFamily="34" charset="-120"/>
              </a:rPr>
              <a:t>行動起点を魂に戻す（感情じゃなく）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0" y="4864608"/>
            <a:ext cx="9098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©︎2025  Meiko Oozeki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572</Words>
  <Application>Microsoft Office PowerPoint</Application>
  <PresentationFormat>画面に合わせる (16:9)</PresentationFormat>
  <Paragraphs>130</Paragraphs>
  <Slides>14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14</vt:i4>
      </vt:variant>
    </vt:vector>
  </HeadingPairs>
  <TitlesOfParts>
    <vt:vector size="32" baseType="lpstr">
      <vt:lpstr>BIZ UDP明朝 Medium</vt:lpstr>
      <vt:lpstr>Canela Bold</vt:lpstr>
      <vt:lpstr>Canela Deck Regular</vt:lpstr>
      <vt:lpstr>Canela Regular</vt:lpstr>
      <vt:lpstr>Canela Text Regular</vt:lpstr>
      <vt:lpstr>Graphik</vt:lpstr>
      <vt:lpstr>Graphik Medium</vt:lpstr>
      <vt:lpstr>Graphik Semibold</vt:lpstr>
      <vt:lpstr>Produkt Light</vt:lpstr>
      <vt:lpstr>ヒラギノ角ゴ ProN W6</vt:lpstr>
      <vt:lpstr>Meiryo</vt:lpstr>
      <vt:lpstr>游ゴシック</vt:lpstr>
      <vt:lpstr>Yu Mincho</vt:lpstr>
      <vt:lpstr>Arial</vt:lpstr>
      <vt:lpstr>Calibri</vt:lpstr>
      <vt:lpstr>Georgia</vt:lpstr>
      <vt:lpstr>Office Theme</vt:lpstr>
      <vt:lpstr>23_ClassicWhite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6次元化後の落とし穴3つ</dc:title>
  <dc:subject>PptxGenJS Presentation</dc:subject>
  <dc:creator>PptxGenJS</dc:creator>
  <cp:lastModifiedBy>Meiko OOZEKI</cp:lastModifiedBy>
  <cp:revision>5</cp:revision>
  <dcterms:created xsi:type="dcterms:W3CDTF">2026-05-14T01:00:00Z</dcterms:created>
  <dcterms:modified xsi:type="dcterms:W3CDTF">2026-05-14T01:37:09Z</dcterms:modified>
</cp:coreProperties>
</file>